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0edc156191a4918" /><Relationship Type="http://schemas.openxmlformats.org/officeDocument/2006/relationships/extended-properties" Target="/docProps/app.xml" Id="Raf98f562941441b7" /><Relationship Type="http://schemas.openxmlformats.org/officeDocument/2006/relationships/officeDocument" Target="/ppt/presentation.xml" Id="R3c3d1830460f49b2" /></Relationships>
</file>

<file path=ppt/presentation.xml><?xml version="1.0" encoding="utf-8"?>
<p:presentation xmlns:p="http://schemas.openxmlformats.org/presentationml/2006/main">
  <p:sldMasterIdLst>
    <p:sldMasterId xmlns:r="http://schemas.openxmlformats.org/officeDocument/2006/relationships" id="2147483648" r:id="Rdfdb036e469942bc"/>
  </p:sldMasterIdLst>
  <p:notesMasterIdLst>
    <p:notesMasterId xmlns:r="http://schemas.openxmlformats.org/officeDocument/2006/relationships" r:id="R4ee18d47a0814431"/>
  </p:notesMasterIdLst>
  <p:sldIdLst>
    <p:sldId xmlns:r="http://schemas.openxmlformats.org/officeDocument/2006/relationships" id="256" r:id="R533f8bdf10814f21"/>
    <p:sldId xmlns:r="http://schemas.openxmlformats.org/officeDocument/2006/relationships" id="257" r:id="Rfa5196135ba04afc"/>
    <p:sldId xmlns:r="http://schemas.openxmlformats.org/officeDocument/2006/relationships" id="258" r:id="R4a27d955b4ad477b"/>
    <p:sldId xmlns:r="http://schemas.openxmlformats.org/officeDocument/2006/relationships" id="259" r:id="R3463f20f21214de3"/>
    <p:sldId xmlns:r="http://schemas.openxmlformats.org/officeDocument/2006/relationships" id="260" r:id="R9fce96e08ae34f70"/>
    <p:sldId xmlns:r="http://schemas.openxmlformats.org/officeDocument/2006/relationships" id="261" r:id="Rbc1110f54ba84b78"/>
    <p:sldId xmlns:r="http://schemas.openxmlformats.org/officeDocument/2006/relationships" id="262" r:id="R3d4a7124f9e64a15"/>
    <p:sldId xmlns:r="http://schemas.openxmlformats.org/officeDocument/2006/relationships" id="263" r:id="R9379b7566e604b64"/>
    <p:sldId xmlns:r="http://schemas.openxmlformats.org/officeDocument/2006/relationships" id="264" r:id="R8615690b183243b9"/>
    <p:sldId xmlns:r="http://schemas.openxmlformats.org/officeDocument/2006/relationships" id="265" r:id="Rfa8f56f7d5df4ec6"/>
  </p:sldIdLst>
  <p:sldSz cx="9144000" cy="499811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b75a57dc74a49f8" /><Relationship Type="http://schemas.openxmlformats.org/officeDocument/2006/relationships/slideMaster" Target="/ppt/slideMasters/slideMaster1.xml" Id="Rdfdb036e469942bc" /><Relationship Type="http://schemas.openxmlformats.org/officeDocument/2006/relationships/notesMaster" Target="/ppt/notesMasters/notesMaster1.xml" Id="R4ee18d47a0814431" /><Relationship Type="http://schemas.openxmlformats.org/officeDocument/2006/relationships/presProps" Target="/ppt/presProps.xml" Id="Rc43fabf1f4844530" /><Relationship Type="http://schemas.openxmlformats.org/officeDocument/2006/relationships/viewProps" Target="/ppt/viewProps.xml" Id="R04d008ea38a245a0" /><Relationship Type="http://schemas.openxmlformats.org/officeDocument/2006/relationships/tableStyles" Target="/ppt/tableStyles.xml" Id="R4aafd47491de4444" /><Relationship Type="http://schemas.openxmlformats.org/officeDocument/2006/relationships/slide" Target="/ppt/slides/slide1.xml" Id="R533f8bdf10814f21" /><Relationship Type="http://schemas.openxmlformats.org/officeDocument/2006/relationships/slide" Target="/ppt/slides/slide2.xml" Id="Rfa5196135ba04afc" /><Relationship Type="http://schemas.openxmlformats.org/officeDocument/2006/relationships/slide" Target="/ppt/slides/slide3.xml" Id="R4a27d955b4ad477b" /><Relationship Type="http://schemas.openxmlformats.org/officeDocument/2006/relationships/slide" Target="/ppt/slides/slide4.xml" Id="R3463f20f21214de3" /><Relationship Type="http://schemas.openxmlformats.org/officeDocument/2006/relationships/slide" Target="/ppt/slides/slide5.xml" Id="R9fce96e08ae34f70" /><Relationship Type="http://schemas.openxmlformats.org/officeDocument/2006/relationships/slide" Target="/ppt/slides/slide6.xml" Id="Rbc1110f54ba84b78" /><Relationship Type="http://schemas.openxmlformats.org/officeDocument/2006/relationships/slide" Target="/ppt/slides/slide7.xml" Id="R3d4a7124f9e64a15" /><Relationship Type="http://schemas.openxmlformats.org/officeDocument/2006/relationships/slide" Target="/ppt/slides/slide8.xml" Id="R9379b7566e604b64" /><Relationship Type="http://schemas.openxmlformats.org/officeDocument/2006/relationships/slide" Target="/ppt/slides/slide9.xml" Id="R8615690b183243b9" /><Relationship Type="http://schemas.openxmlformats.org/officeDocument/2006/relationships/slide" Target="/ppt/slides/slide10.xml" Id="Rfa8f56f7d5df4e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167587b24e4f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397fe7b4ce4934" /><Relationship Type="http://schemas.openxmlformats.org/officeDocument/2006/relationships/notesMaster" Target="/ppt/notesMasters/notesMaster1.xml" Id="Rd3222b0a6fbc49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9d3c2abced4687" /><Relationship Type="http://schemas.openxmlformats.org/officeDocument/2006/relationships/notesMaster" Target="/ppt/notesMasters/notesMaster1.xml" Id="Ra3b90355aafe4c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a48fd269af4cae" /><Relationship Type="http://schemas.openxmlformats.org/officeDocument/2006/relationships/notesMaster" Target="/ppt/notesMasters/notesMaster1.xml" Id="Rbe8eeb7010a94a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595c2ed5c0450b" /><Relationship Type="http://schemas.openxmlformats.org/officeDocument/2006/relationships/notesMaster" Target="/ppt/notesMasters/notesMaster1.xml" Id="R0010dba722004f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0c65ae53c84a91" /><Relationship Type="http://schemas.openxmlformats.org/officeDocument/2006/relationships/notesMaster" Target="/ppt/notesMasters/notesMaster1.xml" Id="R8eafbba5210e4c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5514a0b89945dd" /><Relationship Type="http://schemas.openxmlformats.org/officeDocument/2006/relationships/notesMaster" Target="/ppt/notesMasters/notesMaster1.xml" Id="Recc59c59f89245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212be695c441f6" /><Relationship Type="http://schemas.openxmlformats.org/officeDocument/2006/relationships/notesMaster" Target="/ppt/notesMasters/notesMaster1.xml" Id="Rfba8196ef9f54a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0148afd39644ea" /><Relationship Type="http://schemas.openxmlformats.org/officeDocument/2006/relationships/notesMaster" Target="/ppt/notesMasters/notesMaster1.xml" Id="R96a960e97fc647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fa3bb855464157" /><Relationship Type="http://schemas.openxmlformats.org/officeDocument/2006/relationships/notesMaster" Target="/ppt/notesMasters/notesMaster1.xml" Id="R10d2e5f21d0d46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8b0de956d04e16" /><Relationship Type="http://schemas.openxmlformats.org/officeDocument/2006/relationships/notesMaster" Target="/ppt/notesMasters/notesMaster1.xml" Id="Rf54f5e9823d847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introduction. Keep the four member names, department, college and guide as placeholders. University artwork comes from the supplied reference; no new affiliation is inferred. This system estimates repayment difficulty and supports human review. TARGET=1 means payment difficulties: late payment beyond the dataset-defined threshold on at least one of the first installments. TARGET=0 means all other cases. This follows the repository's documented meaning, not a generic approval label. Saved metadata records XGBoost, version 0.1.0, real data (synthetic=false), isotonic calibration with 3 folds, trained_at 2026-09-20T11:58:50Z. These are saved results, not new experiments. Reviewed branch main at 407ac13cfabd27a1d5a81addd667da591ba4137d on 5 October 2026. Initial working tree had requirements.txt deleted and .claude/ untracked; neither was changed. Metadata does not record a training Git hash, so the saved run cannot be cryptographically bound to this commit. Sources: README.md; config/config.yaml project; artifacts/metadata.json; data/manifest.json target_meaning.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Only about 8.07% of labels are positive. Default probability, integer risk score and band have distinct meanings. risk_score=round(default_probability*100) is not a conventional creditworthiness score; a larger value means more estimated difficulty. probability_to_score clamps to [0,1] and uses Python round, including ties-to-even behavior. probability_to_band also clamps and tests min_prob &lt;= p &lt; max_prob. High has configured upper bound 1.01 so p=1.00 is included after clamping. Boundaries: .08 belongs to Moderate, .20 to Elevated, .40 to High. Bands derive from the unrounded probability, not the rounded score and not the F1 threshold. The implemented analytical views include data quality, model selection, performance, feature reference, explanations and subgroup diagnostics. Sources: loan_risk/pipeline/risk_score.py; config/config.yaml risk_score.bands; artifacts/metrics.json final_test_metrics; streamlit_app.py. TARGET details: data/manifest.json target_meaning.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Offline order in loan_risk/pipeline/run.py:train: ensure/load CSV, validate_raw, write report, abort on fail, build/write manifest, standardize, make_splits, tune_model for configured candidates, single-split comparison, cross_val_select, fit best pipeline on TRAIN+VAL, clone/refit through calibrate_pipeline, select F1 threshold using calibrated validation predictions, evaluate TEST, global/permutation importance, fairness_report, save artifacts. The offline/online bridge is model.joblib containing the calibrated estimator and its fold pipelines (FeatureEngineer, ColumnTransformer, estimator). Metadata, metrics, feature schema, manifest and validation report are file-based. ModelService loads model/metadata/schema through artifacts.py and ui.helpers.get_service uses st.cache_resource. The UI calls Python directly; no active React, FastAPI, REST endpoints, database or microservices. Online: assessment._handle_submit -&gt; validate_payload -&gt; ModelService.predict -&gt; to_model_frame -&gt; saved estimator.predict_proba -&gt; score/band -&gt; best-effort local_explanation -&gt; ui.state.save_prediction -&gt; result display. The Pydantic model derives from schema.py; UI widgets use its saved JSON export. persist_prediction returns None. Docker entrypoint can bootstrap training before serving if no model exists; that separate startup behavior does not mean inference retrains. Sources: streamlit_app.py; ui/{helpers,state}.py; loan_risk/serving/{service,validation}.py; loan_risk/pipeline/{run,artifacts,models,preprocess}.py; docker/entrypoint.sh.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Saved manifest: 307511 rows, 122 columns, 24825 positives, 282686 negatives. The 122 raw columns do not all enter the model. schema.py and feature_schema.json define 12 numeric and 9 categorical application inputs. Ingestion adds employment missingness plus three EXT_SOURCE missingness flags. Seven engineered features give 23 numeric columns plus 9 categorical fields before one-hot expansion. SK_ID_CURR and TARGET are excluded from model inputs; auxiliary tables are out of scope. Saved validation report has 10 pass, 1 missingness warning, 0 fail. Validation checks include types/ranges/duplicates and a heuristic post-outcome column-name scan, not a proof of zero leakage. Duplicate IDs block raw validation; split.py defensively deduplicates again. Exact split: 196806 TRAIN, 49202 VAL, 61503 TEST, seed 42. Validation is 20% of the 80% non-test remainder, giving approximately 64/16/20%. Pipeline preprocessing fits inside training/CV/calibration folds, with no test statistics. Numeric median imputation and optional StandardScaler for Logistic Regression. Categorical constant __UNKNOWN__ fill and OneHotEncoder(handle_unknown=ignore). The encoder tolerates unseen categories, but serving validation rejects categories outside the shared allowed set. Synthetic n_rows=20000 supports tests/demos and is not the saved real run. Sources: data/manifest.json; reports/validation_report.json; artifacts/feature_schema.json; loan_risk/data/{ingestion,validate,synthetic}.py; loan_risk/pipeline/{split,preprocess}.py; config/config.yaml.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The seven formulas match features.py:add_engineered_features, schema.py:ENGINEERED_FEATURES and feature_schema.json.engineered_features. safe_div replaces zero denominators with NaN, and residual infinite engineered values become NaN before imputation. EXT_SOURCE_MEAN is the row mean of EXT_SOURCE_1, EXT_SOURCE_2 and EXT_SOURCE_3 with skipna=True; all missing remains NaN. AGE_YEARS=-DAYS_BIRTH/365.25 and EMPLOYMENT_YEARS=-DAYS_EMPLOYED/365.25 occur once in ingestion.standardize. The DAYS_EMPLOYED=365243 sentinel and actual NaN give missing employment plus flag=1. Serving accepts human-friendly years directly and recreates flags; it does not expect raw DAYS_* fields. FeatureEngineer is stateless, stored inside each pipeline and executed for training and inference before fitted preprocessing. These are associations, not causal effects. Sources: loan_risk/pipeline/features.py; loan_risk/schema.py; artifacts/feature_schema.json; loan_risk/data/ingestion.py:standardize; loan_risk/serving/service.py:to_model_frame.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Saved five-fold CV means/SD: LR .7432633766/.0050309539; DT .7250001043/.0048727149; RF .7498012863/.0048708498; XGBoost .7570622908/.0047375220. Select highest mean ROC-AUC. The chart's value axis is truncated at .70 and labeled. Logistic Regression and Decision Tree use configured parameters. Only RF and XGBoost are configured for RandomizedSearchCV: 8 trials, 3 stratified folds, 40000 stratified TRAIN+VAL rows, ROC-AUC. The caller passes TRAIN+VAL before the separate single-split validation comparison, so that comparison is not independent after tuning. Five-fold selection reuses TRAIN+VAL with chosen hyperparameters; the overall method is not nested CV. RF selected n_estimators=300, max_depth=12, min_samples_leaf=20. XGBoost selected n_estimators=300, max_depth=4, learning_rate=.03, subsample=.7, colsample_bytree=.8. XGBoost config defaults are 400,5,.05,.8,.8 respectively. LR/DT/RF use balanced class weights; XGBoost scale_pos_weight derives from TRAIN class balance. First, the selected base pipeline fits TRAIN+VAL for the uncalibrated comparator. calibrate_pipeline clones it, and CalibratedClassifierCV(method=isotonic,cv=3) refits fold pipelines and calibrators. The served output averages calibrated fold probabilities. This is not prefit calibration. Test is excluded from fitting and selection. Fold SD is descriptive variation, not an independent confidence interval. Sources: artifacts/metrics.json per_model_cross_validation, hyperparameter_tuning; loan_risk/pipeline/{run,tuning,models,calibrate}.py; config/config.yaml.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Exact saved metrics: ROC-AUC .7615026541337846; pr_auc .25042819987443476 (sklearn average_precision_score, not trapezoidal PR integration); Brier .06750000869660358; accuracy .9197925304456693. At threshold .5: TN56481 FP57 FN4876 TP89; precision .6095890410958904, recall .017925478348439074, F1 .03482684406182743. Test has 4965 positives of 61503. Always predicting negative yields accuracy 56538/61503=.9192722306, almost the model's accuracy, exposing imbalance. Brier before=.19605588912963867. The comparison is full-data uncalibrated base fit versus calibrated fold ensemble, not solely an isolated calibration-map experiment. Selected threshold .16649552683035532 maximizes F1 on calibrated VAL predictions. VAL rows already belong to TRAIN+VAL calibration, making selection not fully independent and potentially optimistic. Validation F1 .3128786398280242, precision .2556691152986266, recall .4030715005035247. Fixed-threshold test precision .26146055437100213, recall .39516616314199393, F1 .31470045713369155. The code flags p&gt;=threshold. Test threshold sweeps are descriptive, not the selector. Risk bands do not auto-apply this threshold. Proposed improvement: separate calibration/threshold holdout or out-of-fold threshold selection with a final untouched test. Sources: artifacts/metrics.json final_test_metrics, selected_threshold, calibration; loan_risk/pipeline/{run,evaluate,calibrate}.py.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Screenshot: authentic local Streamlit overview captured on 5 October 2026 from http://127.0.0.1:8511 using the repository .venv and existing model. No training or tests were run, and no applicant prediction is claimed. The screenshot visibly includes the current header badge rendering quirk. The diagram text is a conceptual flow, not an additional screenshot. st.navigation defines 13 pages: Overview and Analytics Dashboard; Risk Assessment, Prediction Result, Explainability; Model Selection, Model Performance, Methodology &amp; Formulas, Feature Reference, Model Information; Fairness Diagnostics, Dataset Quality, Responsible Use. UI widgets use saved feature schema; validate_payload dynamically builds Pydantic ApplicantInput from schema.py bounds/categories. Validation errors stop submission. ModelService creates canonical columns/flags and calls saved predict_proba. Response keys: default_probability, risk_score, risk_band, model_version, explanation_available, explanation, limitations, disclaimer. prediction_id is conditional and currently absent because persist_prediction is a no-op. ui.state keeps the most recent normalized payload/result only in browser-session state. explanation_available only means nonempty contributions and may describe global fallback importance rather than SHAP. The .18/18/Moderate example is arithmetic, not a recorded prediction. Analytics reads a CSV (real preferred, synthetic fallback); performance/fairness read saved JSON, not live recomputation. Sources: streamlit_app.py; ui/pages/{assessment,result,analytics}.py; ui/{helpers,state}.py; loan_risk/serving/{service,validation}.py.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Native importance: metrics.global_importance.method=tree_feature_importances, folds_averaged=3. explain.global_importance averages per transformed feature across folds in which the feature exists. Avoid calling this SHAP or simply split count; it uses model.feature_importances_. Top values: EXT_SOURCE_MEAN .1667383264, EXT_SOURCE_3 .0409455933, Higher education dummy .0351921606. Permutation importance uses the calibrated estimator, original canonical input columns before engineering, ROC-AUC drop, capped random TEST sample 5000, 5 repeats. Top values: EXT_SOURCE_3 .0662455044 (SD .0084019989), EXT_SOURCE_2 .0561674649 (SD .0060044404), AMT_CREDIT .0251545010 (SD .0025956793). Rankings can differ because methods and feature spaces differ. local_explanation-&gt;_unwrap uses the first calibration fold only. TreeExplainer may fail despite SHAP being installed. Base-model SHAP is not an exact attribution of final averaged calibrated probability. Tree fallback gives unsigned global importance and direction=n/a, not individualized signed reasons. Current result.py calls available contributions per-applicant, and explainability.py displays a signed caption even for fallback; this is an implementation wording conflict. The fallback note says SHAP not installed even when it might instead have failed. Fairness threshold=.16649552683035532. Selection rate=(TP+FP)/n at p&gt;=threshold, not approvals. Gender F/M support40561/20940, flag rates .09356278/.17712512, FNR .67031030/.51761390, FPR .07581180/.14257615, AUC .75281249/.76369717. XNA n=2 is low-support with undefined AUC. Groups n&lt;100 are flagged/excluded from disparity ratios. Age bins [0,30),[30,40),[40,50),[50,60),[60,200). Displayed age extremes are a compact subset. Diagnostics do not establish fairness, mitigation or legal clearance. README says no fairness analysis performed, contradicting code/artifacts; current RESPONSIBLE_USE.md acknowledges diagnostics while correctly saying no audit exists. Sources: loan_risk/pipeline/{explain,fairness}.py; artifacts/metrics.json global_importance, permutation_importance, fairness; ui/pages/{result,explainability,fairness}.py; README.md; docs/RESPONSIBLE_USE.md.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then shared questions. Delivered behavior is supported by implementation and saved reports, not a production-readiness claim. Scope excludes auxiliary credit bureau/history tables. Recall is .0179 at .5 and .3952 at the selected analytical threshold, with precision .2615 at that lower threshold. Calibration after-bins [.6,.7) and [.7,.8) contain just12 and16 cases; high-probability reliability remains uncertain. MODEL_CARD.md mentions2-5 cases, which does not match these saved after-calibration bins. Validation reuse, distribution shift, imputation sensitivity and approximate local explanations remain limitations. Limited subgroup diagnostics are not a formal audit or mitigation. Future: point-in-time multi-table features; independent calibration/threshold holdout or out-of-fold selection; external/temporal validation; monitoring; authentication; durable prediction persistence with privacy controls. Docker is a single local service, with optional bootstrap training, not evidence of verified production deployment. Requirements use dependency ranges, not a complete lock, and requirements.txt is deleted in this working copy. Sources: artifacts/metrics.json; data/manifest.json; loan_risk/serving/service.py:persist_prediction; loan_risk/pipeline/{run,calibrate,explain}.py; docs/{MODEL_CARD,RESPONSIBLE_USE}.md; Dockerfile; docker-compose.yml; pyproject.toml.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75dd6750c7430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fb5d13c6c24356" /><Relationship Type="http://schemas.openxmlformats.org/officeDocument/2006/relationships/slideLayout" Target="/ppt/slideLayouts/slideLayout1.xml" Id="Ra484e524a5334df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84e524a5334df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53779a3b7742df" /><Relationship Type="http://schemas.openxmlformats.org/officeDocument/2006/relationships/image" Target="/ppt/media/image.png" Id="R5e1bb14523e74170" /><Relationship Type="http://schemas.openxmlformats.org/officeDocument/2006/relationships/image" Target="/ppt/media/image2.png" Id="R07b3e5c3e4654b1f" /><Relationship Type="http://schemas.openxmlformats.org/officeDocument/2006/relationships/image" Target="/ppt/media/image3.png" Id="Ra80bcd30038248ae" /><Relationship Type="http://schemas.openxmlformats.org/officeDocument/2006/relationships/image" Target="/ppt/media/image4.png" Id="R7f955cf1c2cd472c" /><Relationship Type="http://schemas.openxmlformats.org/officeDocument/2006/relationships/notesSlide" Target="/ppt/notesSlides/notesSlide1.xml" Id="R306dbf49fead4f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b95c2785594b00" /><Relationship Type="http://schemas.openxmlformats.org/officeDocument/2006/relationships/image" Target="/ppt/media/image5.png" Id="R198dac85ce03434c" /><Relationship Type="http://schemas.openxmlformats.org/officeDocument/2006/relationships/notesSlide" Target="/ppt/notesSlides/notesSlide2.xml" Id="Rea64ed67aff74a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2041070bca40a3" /><Relationship Type="http://schemas.openxmlformats.org/officeDocument/2006/relationships/image" Target="/ppt/media/image6.png" Id="R39e2be84cb704e7f" /><Relationship Type="http://schemas.openxmlformats.org/officeDocument/2006/relationships/notesSlide" Target="/ppt/notesSlides/notesSlide3.xml" Id="R9cd0e6b41b7747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d4551e195a41f2" /><Relationship Type="http://schemas.openxmlformats.org/officeDocument/2006/relationships/image" Target="/ppt/media/image7.png" Id="R9ee9fb42e82e4ce5" /><Relationship Type="http://schemas.openxmlformats.org/officeDocument/2006/relationships/notesSlide" Target="/ppt/notesSlides/notesSlide4.xml" Id="R1c9710013ee848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f4e358793744de" /><Relationship Type="http://schemas.openxmlformats.org/officeDocument/2006/relationships/image" Target="/ppt/media/image8.png" Id="R2de7d1232e9644ee" /><Relationship Type="http://schemas.openxmlformats.org/officeDocument/2006/relationships/notesSlide" Target="/ppt/notesSlides/notesSlide5.xml" Id="Re46a331ebc1144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a73c63c52d4ade" /><Relationship Type="http://schemas.openxmlformats.org/officeDocument/2006/relationships/image" Target="/ppt/media/image9.png" Id="R204e45fdc6b64813" /><Relationship Type="http://schemas.openxmlformats.org/officeDocument/2006/relationships/chart" Target="/ppt/slides/charts/chart1.xml" Id="Rb509757d395242f6" /><Relationship Type="http://schemas.openxmlformats.org/officeDocument/2006/relationships/notesSlide" Target="/ppt/notesSlides/notesSlide6.xml" Id="R2f53f199f3424e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525b2d96c84d13" /><Relationship Type="http://schemas.openxmlformats.org/officeDocument/2006/relationships/image" Target="/ppt/media/image10.png" Id="R487fe82438a947a1" /><Relationship Type="http://schemas.openxmlformats.org/officeDocument/2006/relationships/notesSlide" Target="/ppt/notesSlides/notesSlide7.xml" Id="R55ee17c6adbf42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0dc64640414e39" /><Relationship Type="http://schemas.openxmlformats.org/officeDocument/2006/relationships/image" Target="/ppt/media/image11.png" Id="R659b208c75474214" /><Relationship Type="http://schemas.openxmlformats.org/officeDocument/2006/relationships/image" Target="/ppt/media/image.jpeg" Id="Rf76c51e6d76c4b38" /><Relationship Type="http://schemas.openxmlformats.org/officeDocument/2006/relationships/notesSlide" Target="/ppt/notesSlides/notesSlide8.xml" Id="Rbc68cb5aa96743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d8c76a988841b6" /><Relationship Type="http://schemas.openxmlformats.org/officeDocument/2006/relationships/image" Target="/ppt/media/image12.png" Id="R5f7f0351893a475a" /><Relationship Type="http://schemas.openxmlformats.org/officeDocument/2006/relationships/notesSlide" Target="/ppt/notesSlides/notesSlide9.xml" Id="Re48f0ad7109a4a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07f6f0183e4d44" /><Relationship Type="http://schemas.openxmlformats.org/officeDocument/2006/relationships/image" Target="/ppt/media/image13.png" Id="R7b3cdcd318814aa2" /><Relationship Type="http://schemas.openxmlformats.org/officeDocument/2006/relationships/notesSlide" Target="/ppt/notesSlides/notesSlide10.xml" Id="R821e57451297489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1F5FAE"/>
                </a:solidFill>
                <a:latin typeface="Calibri"/>
                <a:ea typeface="Calibri"/>
                <a:cs typeface="Calibri"/>
              </a:rPr>
              <a:t>5-fold CV ROC-AUC (axis starts at 0.70)</a:t>
            </a:r>
          </a:p>
        </c:rich>
      </c:tx>
      <c:overlay val="0"/>
      <c:txPr>
        <a:bodyPr xmlns:a="http://schemas.openxmlformats.org/drawingml/2006/main" anchorCtr="1"/>
        <a:lstStyle xmlns:a="http://schemas.openxmlformats.org/drawingml/2006/main"/>
        <a:p xmlns:a="http://schemas.openxmlformats.org/drawingml/2006/main">
          <a:pPr>
            <a:defRPr sz="1200" b="1">
              <a:solidFill>
                <a:srgbClr val="1F5FAE"/>
              </a:solidFill>
              <a:latin typeface="Calibri"/>
              <a:ea typeface="Calibri"/>
              <a:cs typeface="Calibri"/>
            </a:defRPr>
          </a:pPr>
        </a:p>
      </c:txPr>
    </c:title>
    <c:plotArea>
      <c:barChart>
        <c:barDir val="col"/>
        <c:grouping val="clustered"/>
        <c:varyColors val="0"/>
        <c:ser>
          <c:idx val="0"/>
          <c:order val="0"/>
          <c:tx>
            <c:v>CV ROC-AUC</c:v>
          </c:tx>
          <c:spPr>
            <a:solidFill xmlns:a="http://schemas.openxmlformats.org/drawingml/2006/main">
              <a:srgbClr val="1F5FAE"/>
            </a:solidFill>
          </c:spPr>
          <c:cat>
            <c:strRef>
              <c:f>'Chart Data'!$A$2:$A$5</c:f>
              <c:strCache>
                <c:ptCount val="4"/>
                <c:pt idx="0">
                  <c:v>Decision Tree</c:v>
                </c:pt>
                <c:pt idx="1">
                  <c:v>Logistic Reg.</c:v>
                </c:pt>
                <c:pt idx="2">
                  <c:v>Random Forest</c:v>
                </c:pt>
                <c:pt idx="3">
                  <c:v>XGBoost</c:v>
                </c:pt>
              </c:strCache>
            </c:strRef>
          </c:cat>
          <c:val>
            <c:numRef>
              <c:f>'Chart Data'!$B$2:$B$5</c:f>
              <c:numCache>
                <c:formatCode>0.0000</c:formatCode>
                <c:ptCount val="4"/>
                <c:pt idx="0">
                  <c:v>0.7250001043</c:v>
                </c:pt>
                <c:pt idx="1">
                  <c:v>0.7432633766</c:v>
                </c:pt>
                <c:pt idx="2">
                  <c:v>0.7498012863</c:v>
                </c:pt>
                <c:pt idx="3">
                  <c:v>0.7570622908</c:v>
                </c:pt>
              </c:numCache>
            </c:numRef>
          </c:val>
        </c:ser>
        <c:dLbls>
          <c:txPr>
            <a:bodyPr xmlns:a="http://schemas.openxmlformats.org/drawingml/2006/main" anchorCtr="1"/>
            <a:lstStyle xmlns:a="http://schemas.openxmlformats.org/drawingml/2006/main"/>
            <a:p xmlns:a="http://schemas.openxmlformats.org/drawingml/2006/main">
              <a:pPr>
                <a:defRPr sz="975">
                  <a:solidFill>
                    <a:srgbClr val="0B2E59"/>
                  </a:solidFill>
                  <a:latin typeface="Calibri"/>
                  <a:ea typeface="Calibri"/>
                  <a:cs typeface="Calibr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0B2E59"/>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DDE4EC"/>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B6770"/>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5e1bb14523e7417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9452579-80F6-4D08-9B2F-D32226F5FB5B}"/>
              </a:ext>
            </a:extLst>
          </p:cNvPr>
          <p:cNvSpPr>
            <a:spLocks xmlns:a="http://schemas.openxmlformats.org/drawingml/2006/main" noGrp="1"/>
          </p:cNvSpPr>
          <p:nvPr/>
        </p:nvSpPr>
        <p:spPr>
          <a:xfrm xmlns:a="http://schemas.openxmlformats.org/drawingml/2006/main">
            <a:off x="548640" y="41148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07F2D"/>
                </a:solidFill>
                <a:latin typeface="Calibri"/>
                <a:ea typeface="Calibri"/>
                <a:cs typeface="Calibri"/>
              </a:rPr>
              <a:t>ML CORNERSTONE  |  TEAM OF 4</a:t>
            </a:r>
            <a:endParaRPr sz="1100"/>
          </a:p>
        </p:txBody>
      </p:sp>
      <p:sp>
        <p:nvSpPr>
          <p:cNvPr id="4" name="Text 1">
            <a:extLst xmlns:a="http://schemas.openxmlformats.org/drawingml/2006/main">
              <a:ext uri="{FF2B5EF4-FFF2-40B4-BE49-F238E27FC236}">
                <a16:creationId xmlns:a16="http://schemas.microsoft.com/office/drawing/2014/main" id="{87F882B8-8AAF-414C-9921-5A47022376A7}"/>
              </a:ext>
            </a:extLst>
          </p:cNvPr>
          <p:cNvSpPr>
            <a:spLocks xmlns:a="http://schemas.openxmlformats.org/drawingml/2006/main" noGrp="1"/>
          </p:cNvSpPr>
          <p:nvPr/>
        </p:nvSpPr>
        <p:spPr>
          <a:xfrm xmlns:a="http://schemas.openxmlformats.org/drawingml/2006/main">
            <a:off x="548640" y="777240"/>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B2E59"/>
                </a:solidFill>
                <a:latin typeface="Calibri"/>
                <a:ea typeface="Calibri"/>
                <a:cs typeface="Calibri"/>
              </a:rPr>
              <a:t>INTELLIGENT LOAN RISK ASSESSMENT SYSTEM</a:t>
            </a:r>
            <a:endParaRPr sz="2800"/>
          </a:p>
        </p:txBody>
      </p:sp>
      <p:sp>
        <p:nvSpPr>
          <p:cNvPr id="5" name="Text 2">
            <a:extLst xmlns:a="http://schemas.openxmlformats.org/drawingml/2006/main">
              <a:ext uri="{FF2B5EF4-FFF2-40B4-BE49-F238E27FC236}">
                <a16:creationId xmlns:a16="http://schemas.microsoft.com/office/drawing/2014/main" id="{25BDF5A3-2DC1-4233-A9BC-1DD712ED5A53}"/>
              </a:ext>
            </a:extLst>
          </p:cNvPr>
          <p:cNvSpPr>
            <a:spLocks xmlns:a="http://schemas.openxmlformats.org/drawingml/2006/main" noGrp="1"/>
          </p:cNvSpPr>
          <p:nvPr/>
        </p:nvSpPr>
        <p:spPr>
          <a:xfrm xmlns:a="http://schemas.openxmlformats.org/drawingml/2006/main">
            <a:off x="548640" y="201168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B6770"/>
                </a:solidFill>
                <a:latin typeface="Calibri"/>
                <a:ea typeface="Calibri"/>
                <a:cs typeface="Calibri"/>
              </a:rPr>
              <a:t>Repayment-difficulty probability estimation with explainable ML</a:t>
            </a:r>
            <a:endParaRPr sz="1400"/>
          </a:p>
        </p:txBody>
      </p:sp>
      <p:sp>
        <p:nvSpPr>
          <p:cNvPr id="6" name="Text 3">
            <a:extLst xmlns:a="http://schemas.openxmlformats.org/drawingml/2006/main">
              <a:ext uri="{FF2B5EF4-FFF2-40B4-BE49-F238E27FC236}">
                <a16:creationId xmlns:a16="http://schemas.microsoft.com/office/drawing/2014/main" id="{768ADF1C-98DE-4966-AECE-6F497F649FA7}"/>
              </a:ext>
            </a:extLst>
          </p:cNvPr>
          <p:cNvSpPr>
            <a:spLocks xmlns:a="http://schemas.openxmlformats.org/drawingml/2006/main" noGrp="1"/>
          </p:cNvSpPr>
          <p:nvPr/>
        </p:nvSpPr>
        <p:spPr>
          <a:xfrm xmlns:a="http://schemas.openxmlformats.org/drawingml/2006/main">
            <a:off x="548640" y="2468880"/>
            <a:ext cx="5029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Char char="•"/>
            </a:pPr>
            <a:r>
              <a:rPr sz="1150">
                <a:solidFill>
                  <a:srgbClr val="0B2E59"/>
                </a:solidFill>
                <a:latin typeface="Calibri"/>
                <a:ea typeface="Calibri"/>
                <a:cs typeface="Calibri"/>
              </a:rPr>
              <a:t>Estimates repayment difficulty and supports human review</a:t>
            </a:r>
            <a:endParaRPr sz="1150"/>
          </a:p>
          <a:p xmlns:a="http://schemas.openxmlformats.org/drawingml/2006/main">
            <a:pPr marL="342900" indent="-342900">
              <a:spcAft>
                <a:spcPts val="300"/>
              </a:spcAft>
              <a:buSzPct val="100000"/>
              <a:buChar char="•"/>
            </a:pPr>
            <a:r>
              <a:rPr sz="1150">
                <a:solidFill>
                  <a:srgbClr val="0B2E59"/>
                </a:solidFill>
                <a:latin typeface="Calibri"/>
                <a:ea typeface="Calibri"/>
                <a:cs typeface="Calibri"/>
              </a:rPr>
              <a:t>Home Credit data, calibrated XGBoost model, Streamlit app</a:t>
            </a:r>
            <a:endParaRPr sz="1150"/>
          </a:p>
        </p:txBody>
      </p:sp>
      <p:sp>
        <p:nvSpPr>
          <p:cNvPr id="7" name="Shape 4">
            <a:extLst xmlns:a="http://schemas.openxmlformats.org/drawingml/2006/main">
              <a:ext uri="{FF2B5EF4-FFF2-40B4-BE49-F238E27FC236}">
                <a16:creationId xmlns:a16="http://schemas.microsoft.com/office/drawing/2014/main" id="{6C00CC8F-9F17-403E-B320-F4806C4B12D9}"/>
              </a:ext>
            </a:extLst>
          </p:cNvPr>
          <p:cNvSpPr>
            <a:spLocks xmlns:a="http://schemas.openxmlformats.org/drawingml/2006/main" noGrp="1"/>
          </p:cNvSpPr>
          <p:nvPr/>
        </p:nvSpPr>
        <p:spPr>
          <a:xfrm xmlns:a="http://schemas.openxmlformats.org/drawingml/2006/main">
            <a:off x="548640" y="3246120"/>
            <a:ext cx="1097280" cy="0"/>
          </a:xfrm>
          <a:prstGeom xmlns:a="http://schemas.openxmlformats.org/drawingml/2006/main" prst="line">
            <a:avLst/>
          </a:prstGeom>
          <a:noFill xmlns:a="http://schemas.openxmlformats.org/drawingml/2006/main"/>
          <a:ln xmlns:a="http://schemas.openxmlformats.org/drawingml/2006/main" w="38100">
            <a:solidFill>
              <a:srgbClr val="F07F2D"/>
            </a:solidFill>
            <a:prstDash val="solid"/>
          </a:ln>
        </p:spPr>
      </p:sp>
      <p:sp>
        <p:nvSpPr>
          <p:cNvPr id="8" name="Text 5">
            <a:extLst xmlns:a="http://schemas.openxmlformats.org/drawingml/2006/main">
              <a:ext uri="{FF2B5EF4-FFF2-40B4-BE49-F238E27FC236}">
                <a16:creationId xmlns:a16="http://schemas.microsoft.com/office/drawing/2014/main" id="{C99792E0-A2F1-4226-BC01-7016B2B60C87}"/>
              </a:ext>
            </a:extLst>
          </p:cNvPr>
          <p:cNvSpPr>
            <a:spLocks xmlns:a="http://schemas.openxmlformats.org/drawingml/2006/main" noGrp="1"/>
          </p:cNvSpPr>
          <p:nvPr/>
        </p:nvSpPr>
        <p:spPr>
          <a:xfrm xmlns:a="http://schemas.openxmlformats.org/drawingml/2006/main">
            <a:off x="548640" y="3383280"/>
            <a:ext cx="822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770"/>
                </a:solidFill>
                <a:latin typeface="Calibri"/>
                <a:ea typeface="Calibri"/>
                <a:cs typeface="Calibri"/>
              </a:rPr>
              <a:t>Member 1</a:t>
            </a:r>
            <a:endParaRPr sz="1100"/>
          </a:p>
        </p:txBody>
      </p:sp>
      <p:sp>
        <p:nvSpPr>
          <p:cNvPr id="9" name="Text 6">
            <a:extLst xmlns:a="http://schemas.openxmlformats.org/drawingml/2006/main">
              <a:ext uri="{FF2B5EF4-FFF2-40B4-BE49-F238E27FC236}">
                <a16:creationId xmlns:a16="http://schemas.microsoft.com/office/drawing/2014/main" id="{3AEEDAB2-28A3-4071-AEFF-370C76E9FEFF}"/>
              </a:ext>
            </a:extLst>
          </p:cNvPr>
          <p:cNvSpPr>
            <a:spLocks xmlns:a="http://schemas.openxmlformats.org/drawingml/2006/main" noGrp="1"/>
          </p:cNvSpPr>
          <p:nvPr/>
        </p:nvSpPr>
        <p:spPr>
          <a:xfrm xmlns:a="http://schemas.openxmlformats.org/drawingml/2006/main">
            <a:off x="1371600" y="3383280"/>
            <a:ext cx="42062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B2E59"/>
                </a:solidFill>
                <a:latin typeface="Calibri"/>
                <a:ea typeface="Calibri"/>
                <a:cs typeface="Calibri"/>
              </a:rPr>
              <a:t>[Name]  -  Problem &amp; product flow</a:t>
            </a:r>
            <a:endParaRPr sz="1100"/>
          </a:p>
        </p:txBody>
      </p:sp>
      <p:sp>
        <p:nvSpPr>
          <p:cNvPr id="10" name="Text 7">
            <a:extLst xmlns:a="http://schemas.openxmlformats.org/drawingml/2006/main">
              <a:ext uri="{FF2B5EF4-FFF2-40B4-BE49-F238E27FC236}">
                <a16:creationId xmlns:a16="http://schemas.microsoft.com/office/drawing/2014/main" id="{7E259033-4F50-4F07-B27A-7B53795B5BF9}"/>
              </a:ext>
            </a:extLst>
          </p:cNvPr>
          <p:cNvSpPr>
            <a:spLocks xmlns:a="http://schemas.openxmlformats.org/drawingml/2006/main" noGrp="1"/>
          </p:cNvSpPr>
          <p:nvPr/>
        </p:nvSpPr>
        <p:spPr>
          <a:xfrm xmlns:a="http://schemas.openxmlformats.org/drawingml/2006/main">
            <a:off x="548640" y="3630168"/>
            <a:ext cx="822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770"/>
                </a:solidFill>
                <a:latin typeface="Calibri"/>
                <a:ea typeface="Calibri"/>
                <a:cs typeface="Calibri"/>
              </a:rPr>
              <a:t>Member 2</a:t>
            </a:r>
            <a:endParaRPr sz="1100"/>
          </a:p>
        </p:txBody>
      </p:sp>
      <p:sp>
        <p:nvSpPr>
          <p:cNvPr id="11" name="Text 8">
            <a:extLst xmlns:a="http://schemas.openxmlformats.org/drawingml/2006/main">
              <a:ext uri="{FF2B5EF4-FFF2-40B4-BE49-F238E27FC236}">
                <a16:creationId xmlns:a16="http://schemas.microsoft.com/office/drawing/2014/main" id="{13B9444D-8017-45DC-855D-2959BB85165A}"/>
              </a:ext>
            </a:extLst>
          </p:cNvPr>
          <p:cNvSpPr>
            <a:spLocks xmlns:a="http://schemas.openxmlformats.org/drawingml/2006/main" noGrp="1"/>
          </p:cNvSpPr>
          <p:nvPr/>
        </p:nvSpPr>
        <p:spPr>
          <a:xfrm xmlns:a="http://schemas.openxmlformats.org/drawingml/2006/main">
            <a:off x="1371600" y="3630168"/>
            <a:ext cx="42062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B2E59"/>
                </a:solidFill>
                <a:latin typeface="Calibri"/>
                <a:ea typeface="Calibri"/>
                <a:cs typeface="Calibri"/>
              </a:rPr>
              <a:t>[Name]  -  Data &amp; features</a:t>
            </a:r>
            <a:endParaRPr sz="1100"/>
          </a:p>
        </p:txBody>
      </p:sp>
      <p:sp>
        <p:nvSpPr>
          <p:cNvPr id="12" name="Text 9">
            <a:extLst xmlns:a="http://schemas.openxmlformats.org/drawingml/2006/main">
              <a:ext uri="{FF2B5EF4-FFF2-40B4-BE49-F238E27FC236}">
                <a16:creationId xmlns:a16="http://schemas.microsoft.com/office/drawing/2014/main" id="{7F8A9AC4-1ED0-43E7-9F28-A49EFBC55D3F}"/>
              </a:ext>
            </a:extLst>
          </p:cNvPr>
          <p:cNvSpPr>
            <a:spLocks xmlns:a="http://schemas.openxmlformats.org/drawingml/2006/main" noGrp="1"/>
          </p:cNvSpPr>
          <p:nvPr/>
        </p:nvSpPr>
        <p:spPr>
          <a:xfrm xmlns:a="http://schemas.openxmlformats.org/drawingml/2006/main">
            <a:off x="548640" y="3877056"/>
            <a:ext cx="822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770"/>
                </a:solidFill>
                <a:latin typeface="Calibri"/>
                <a:ea typeface="Calibri"/>
                <a:cs typeface="Calibri"/>
              </a:rPr>
              <a:t>Member 3</a:t>
            </a:r>
            <a:endParaRPr sz="1100"/>
          </a:p>
        </p:txBody>
      </p:sp>
      <p:sp>
        <p:nvSpPr>
          <p:cNvPr id="13" name="Text 10">
            <a:extLst xmlns:a="http://schemas.openxmlformats.org/drawingml/2006/main">
              <a:ext uri="{FF2B5EF4-FFF2-40B4-BE49-F238E27FC236}">
                <a16:creationId xmlns:a16="http://schemas.microsoft.com/office/drawing/2014/main" id="{FAF95D19-DD4F-427D-ABB9-E2E9FEE95E66}"/>
              </a:ext>
            </a:extLst>
          </p:cNvPr>
          <p:cNvSpPr>
            <a:spLocks xmlns:a="http://schemas.openxmlformats.org/drawingml/2006/main" noGrp="1"/>
          </p:cNvSpPr>
          <p:nvPr/>
        </p:nvSpPr>
        <p:spPr>
          <a:xfrm xmlns:a="http://schemas.openxmlformats.org/drawingml/2006/main">
            <a:off x="1371600" y="3877056"/>
            <a:ext cx="42062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B2E59"/>
                </a:solidFill>
                <a:latin typeface="Calibri"/>
                <a:ea typeface="Calibri"/>
                <a:cs typeface="Calibri"/>
              </a:rPr>
              <a:t>[Name]  -  ML &amp; evaluation</a:t>
            </a:r>
            <a:endParaRPr sz="1100"/>
          </a:p>
        </p:txBody>
      </p:sp>
      <p:sp>
        <p:nvSpPr>
          <p:cNvPr id="14" name="Text 11">
            <a:extLst xmlns:a="http://schemas.openxmlformats.org/drawingml/2006/main">
              <a:ext uri="{FF2B5EF4-FFF2-40B4-BE49-F238E27FC236}">
                <a16:creationId xmlns:a16="http://schemas.microsoft.com/office/drawing/2014/main" id="{F284F7F3-751F-4A6B-A47E-14C2803C3AB7}"/>
              </a:ext>
            </a:extLst>
          </p:cNvPr>
          <p:cNvSpPr>
            <a:spLocks xmlns:a="http://schemas.openxmlformats.org/drawingml/2006/main" noGrp="1"/>
          </p:cNvSpPr>
          <p:nvPr/>
        </p:nvSpPr>
        <p:spPr>
          <a:xfrm xmlns:a="http://schemas.openxmlformats.org/drawingml/2006/main">
            <a:off x="548640" y="4123944"/>
            <a:ext cx="822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770"/>
                </a:solidFill>
                <a:latin typeface="Calibri"/>
                <a:ea typeface="Calibri"/>
                <a:cs typeface="Calibri"/>
              </a:rPr>
              <a:t>Member 4</a:t>
            </a:r>
            <a:endParaRPr sz="1100"/>
          </a:p>
        </p:txBody>
      </p:sp>
      <p:sp>
        <p:nvSpPr>
          <p:cNvPr id="15" name="Text 12">
            <a:extLst xmlns:a="http://schemas.openxmlformats.org/drawingml/2006/main">
              <a:ext uri="{FF2B5EF4-FFF2-40B4-BE49-F238E27FC236}">
                <a16:creationId xmlns:a16="http://schemas.microsoft.com/office/drawing/2014/main" id="{D56EBB53-4CFD-43A2-9216-7769CEAB2E70}"/>
              </a:ext>
            </a:extLst>
          </p:cNvPr>
          <p:cNvSpPr>
            <a:spLocks xmlns:a="http://schemas.openxmlformats.org/drawingml/2006/main" noGrp="1"/>
          </p:cNvSpPr>
          <p:nvPr/>
        </p:nvSpPr>
        <p:spPr>
          <a:xfrm xmlns:a="http://schemas.openxmlformats.org/drawingml/2006/main">
            <a:off x="1371600" y="4123944"/>
            <a:ext cx="42062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B2E59"/>
                </a:solidFill>
                <a:latin typeface="Calibri"/>
                <a:ea typeface="Calibri"/>
                <a:cs typeface="Calibri"/>
              </a:rPr>
              <a:t>[Name]  -  Application &amp; governance</a:t>
            </a:r>
            <a:endParaRPr sz="1100"/>
          </a:p>
        </p:txBody>
      </p:sp>
      <p:sp>
        <p:nvSpPr>
          <p:cNvPr id="16" name="Text 13">
            <a:extLst xmlns:a="http://schemas.openxmlformats.org/drawingml/2006/main">
              <a:ext uri="{FF2B5EF4-FFF2-40B4-BE49-F238E27FC236}">
                <a16:creationId xmlns:a16="http://schemas.microsoft.com/office/drawing/2014/main" id="{44584D13-25F0-4298-A744-DA3492103AEE}"/>
              </a:ext>
            </a:extLst>
          </p:cNvPr>
          <p:cNvSpPr>
            <a:spLocks xmlns:a="http://schemas.openxmlformats.org/drawingml/2006/main" noGrp="1"/>
          </p:cNvSpPr>
          <p:nvPr/>
        </p:nvSpPr>
        <p:spPr>
          <a:xfrm xmlns:a="http://schemas.openxmlformats.org/drawingml/2006/main">
            <a:off x="548640" y="4480560"/>
            <a:ext cx="5120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B6770"/>
                </a:solidFill>
                <a:latin typeface="Calibri"/>
                <a:ea typeface="Calibri"/>
                <a:cs typeface="Calibri"/>
              </a:rPr>
              <a:t>[Department]  |  [College Name]  |  Guide: [Faculty Name]</a:t>
            </a:r>
            <a:endParaRPr sz="1050"/>
          </a:p>
        </p:txBody>
      </p:sp>
      <p:sp>
        <p:nvSpPr>
          <p:cNvPr id="17" name="Shape 14">
            <a:extLst xmlns:a="http://schemas.openxmlformats.org/drawingml/2006/main">
              <a:ext uri="{FF2B5EF4-FFF2-40B4-BE49-F238E27FC236}">
                <a16:creationId xmlns:a16="http://schemas.microsoft.com/office/drawing/2014/main" id="{4FB40DD1-0745-4C43-BEA1-40997B728058}"/>
              </a:ext>
            </a:extLst>
          </p:cNvPr>
          <p:cNvSpPr>
            <a:spLocks xmlns:a="http://schemas.openxmlformats.org/drawingml/2006/main" noGrp="1"/>
          </p:cNvSpPr>
          <p:nvPr/>
        </p:nvSpPr>
        <p:spPr>
          <a:xfrm xmlns:a="http://schemas.openxmlformats.org/drawingml/2006/main">
            <a:off x="6080760" y="822960"/>
            <a:ext cx="1005840" cy="1005840"/>
          </a:xfrm>
          <a:prstGeom xmlns:a="http://schemas.openxmlformats.org/drawingml/2006/main" prst="ellipse">
            <a:avLst/>
          </a:prstGeom>
          <a:solidFill xmlns:a="http://schemas.openxmlformats.org/drawingml/2006/main">
            <a:srgbClr val="1F5FAE"/>
          </a:solidFill>
          <a:ln xmlns:a="http://schemas.openxmlformats.org/drawingml/2006/main" w="12700">
            <a:solidFill>
              <a:srgbClr val="1F5FAE"/>
            </a:solidFill>
            <a:prstDash val="solid"/>
          </a:ln>
        </p:spPr>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07b3e5c3e4654b1f"/>
          <a:stretch xmlns:a="http://schemas.openxmlformats.org/drawingml/2006/main">
            <a:fillRect l="0" t="0" r="0" b="0"/>
          </a:stretch>
        </p:blipFill>
        <p:spPr>
          <a:xfrm xmlns:a="http://schemas.openxmlformats.org/drawingml/2006/main">
            <a:off x="6332220" y="1074420"/>
            <a:ext cx="502920" cy="50292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E1DEC37C-0A50-4FC8-AD05-2F9EEFF09F6E}"/>
              </a:ext>
            </a:extLst>
          </p:cNvPr>
          <p:cNvSpPr>
            <a:spLocks xmlns:a="http://schemas.openxmlformats.org/drawingml/2006/main" noGrp="1"/>
          </p:cNvSpPr>
          <p:nvPr/>
        </p:nvSpPr>
        <p:spPr>
          <a:xfrm xmlns:a="http://schemas.openxmlformats.org/drawingml/2006/main">
            <a:off x="5486400" y="1865376"/>
            <a:ext cx="2194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B2E59"/>
                </a:solidFill>
                <a:latin typeface="Calibri"/>
                <a:ea typeface="Calibri"/>
                <a:cs typeface="Calibri"/>
              </a:rPr>
              <a:t>Banking</a:t>
            </a:r>
            <a:endParaRPr sz="1200"/>
          </a:p>
        </p:txBody>
      </p:sp>
      <p:sp>
        <p:nvSpPr>
          <p:cNvPr id="20" name="Shape 16">
            <a:extLst xmlns:a="http://schemas.openxmlformats.org/drawingml/2006/main">
              <a:ext uri="{FF2B5EF4-FFF2-40B4-BE49-F238E27FC236}">
                <a16:creationId xmlns:a16="http://schemas.microsoft.com/office/drawing/2014/main" id="{F5A9D5F7-EE91-42DC-957C-3FE621893D42}"/>
              </a:ext>
            </a:extLst>
          </p:cNvPr>
          <p:cNvSpPr>
            <a:spLocks xmlns:a="http://schemas.openxmlformats.org/drawingml/2006/main" noGrp="1"/>
          </p:cNvSpPr>
          <p:nvPr/>
        </p:nvSpPr>
        <p:spPr>
          <a:xfrm xmlns:a="http://schemas.openxmlformats.org/drawingml/2006/main">
            <a:off x="6080760" y="2148840"/>
            <a:ext cx="1005840" cy="1005840"/>
          </a:xfrm>
          <a:prstGeom xmlns:a="http://schemas.openxmlformats.org/drawingml/2006/main" prst="ellipse">
            <a:avLst/>
          </a:prstGeom>
          <a:solidFill xmlns:a="http://schemas.openxmlformats.org/drawingml/2006/main">
            <a:srgbClr val="1F5FAE"/>
          </a:solidFill>
          <a:ln xmlns:a="http://schemas.openxmlformats.org/drawingml/2006/main" w="12700">
            <a:solidFill>
              <a:srgbClr val="1F5FAE"/>
            </a:solidFill>
            <a:prstDash val="solid"/>
          </a:ln>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a80bcd30038248ae"/>
          <a:stretch xmlns:a="http://schemas.openxmlformats.org/drawingml/2006/main">
            <a:fillRect l="0" t="0" r="0" b="0"/>
          </a:stretch>
        </p:blipFill>
        <p:spPr>
          <a:xfrm xmlns:a="http://schemas.openxmlformats.org/drawingml/2006/main">
            <a:off x="6332220" y="2400300"/>
            <a:ext cx="502920" cy="502920"/>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F128392F-92CA-4AC7-BEAD-11EE38A0925C}"/>
              </a:ext>
            </a:extLst>
          </p:cNvPr>
          <p:cNvSpPr>
            <a:spLocks xmlns:a="http://schemas.openxmlformats.org/drawingml/2006/main" noGrp="1"/>
          </p:cNvSpPr>
          <p:nvPr/>
        </p:nvSpPr>
        <p:spPr>
          <a:xfrm xmlns:a="http://schemas.openxmlformats.org/drawingml/2006/main">
            <a:off x="5486400" y="3191256"/>
            <a:ext cx="2194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B2E59"/>
                </a:solidFill>
                <a:latin typeface="Calibri"/>
                <a:ea typeface="Calibri"/>
                <a:cs typeface="Calibri"/>
              </a:rPr>
              <a:t>Machine Learning</a:t>
            </a:r>
            <a:endParaRPr sz="1200"/>
          </a:p>
        </p:txBody>
      </p:sp>
      <p:sp>
        <p:nvSpPr>
          <p:cNvPr id="23" name="Shape 18">
            <a:extLst xmlns:a="http://schemas.openxmlformats.org/drawingml/2006/main">
              <a:ext uri="{FF2B5EF4-FFF2-40B4-BE49-F238E27FC236}">
                <a16:creationId xmlns:a16="http://schemas.microsoft.com/office/drawing/2014/main" id="{7E7CC57B-E565-4317-AE08-969C0E0C5D56}"/>
              </a:ext>
            </a:extLst>
          </p:cNvPr>
          <p:cNvSpPr>
            <a:spLocks xmlns:a="http://schemas.openxmlformats.org/drawingml/2006/main" noGrp="1"/>
          </p:cNvSpPr>
          <p:nvPr/>
        </p:nvSpPr>
        <p:spPr>
          <a:xfrm xmlns:a="http://schemas.openxmlformats.org/drawingml/2006/main">
            <a:off x="6080760" y="3474720"/>
            <a:ext cx="1005840" cy="1005840"/>
          </a:xfrm>
          <a:prstGeom xmlns:a="http://schemas.openxmlformats.org/drawingml/2006/main" prst="ellipse">
            <a:avLst/>
          </a:prstGeom>
          <a:solidFill xmlns:a="http://schemas.openxmlformats.org/drawingml/2006/main">
            <a:srgbClr val="1F5FAE"/>
          </a:solidFill>
          <a:ln xmlns:a="http://schemas.openxmlformats.org/drawingml/2006/main" w="12700">
            <a:solidFill>
              <a:srgbClr val="1F5FAE"/>
            </a:solidFill>
            <a:prstDash val="solid"/>
          </a:ln>
        </p:spPr>
      </p:sp>
      <p:pic>
        <p:nvPicPr>
          <p:cNvPr id="50" name="Image 2"/>
          <p:cNvPicPr>
            <a:picLocks xmlns:a="http://schemas.openxmlformats.org/drawingml/2006/main" noChangeAspect="1"/>
          </p:cNvPicPr>
          <p:nvPr/>
        </p:nvPicPr>
        <p:blipFill>
          <a:blip xmlns:r="http://schemas.openxmlformats.org/officeDocument/2006/relationships" xmlns:a="http://schemas.openxmlformats.org/drawingml/2006/main" r:embed="R7f955cf1c2cd472c"/>
          <a:stretch xmlns:a="http://schemas.openxmlformats.org/drawingml/2006/main">
            <a:fillRect l="0" t="0" r="0" b="0"/>
          </a:stretch>
        </p:blipFill>
        <p:spPr>
          <a:xfrm xmlns:a="http://schemas.openxmlformats.org/drawingml/2006/main">
            <a:off x="6332220" y="3726180"/>
            <a:ext cx="502920" cy="502920"/>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D310425D-674E-487D-85F3-2404DDA9A9C7}"/>
              </a:ext>
            </a:extLst>
          </p:cNvPr>
          <p:cNvSpPr>
            <a:spLocks xmlns:a="http://schemas.openxmlformats.org/drawingml/2006/main" noGrp="1"/>
          </p:cNvSpPr>
          <p:nvPr/>
        </p:nvSpPr>
        <p:spPr>
          <a:xfrm xmlns:a="http://schemas.openxmlformats.org/drawingml/2006/main">
            <a:off x="5486400" y="4517136"/>
            <a:ext cx="2194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B2E59"/>
                </a:solidFill>
                <a:latin typeface="Calibri"/>
                <a:ea typeface="Calibri"/>
                <a:cs typeface="Calibri"/>
              </a:rPr>
              <a:t>Risk Assessment</a:t>
            </a:r>
            <a:endParaRPr sz="1200"/>
          </a:p>
        </p:txBody>
      </p:sp>
    </p:spTree>
    <p:extLst>
      <p:ext uri="{BB962C8B-B14F-4D97-AF65-F5344CB8AC3E}">
        <p14:creationId xmlns:p14="http://schemas.microsoft.com/office/powerpoint/2010/main" val="1857112018"/>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198dac85ce03434c">
            <a:lum/>
          </a:blip>
          <a:srcRect l="0" t="0" r="0" b="0"/>
          <a:stretch>
            <a:fillRect l="0" t="0" r="0" b="0"/>
          </a:stretch>
        </a:blip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3C5F05-76C2-423D-9B35-0551382A0DA3}"/>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Problem Statement &amp; Objectives</a:t>
            </a:r>
          </a:p>
        </p:txBody>
      </p:sp>
      <p:sp>
        <p:nvSpPr>
          <p:cNvPr id="2" name="">
            <a:extLst xmlns:a="http://schemas.openxmlformats.org/drawingml/2006/main">
              <a:ext uri="{FF2B5EF4-FFF2-40B4-BE49-F238E27FC236}">
                <a16:creationId xmlns:a16="http://schemas.microsoft.com/office/drawing/2014/main" id="{D5A63262-B104-4E40-8BED-4A1EC9582B9F}"/>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D2BC4261-C27C-48AB-A372-FA084DE09EA0}"/>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1</a:t>
            </a:r>
          </a:p>
        </p:txBody>
      </p:sp>
      <p:sp>
        <p:nvSpPr>
          <p:cNvPr id="4" name="">
            <a:extLst xmlns:a="http://schemas.openxmlformats.org/drawingml/2006/main">
              <a:ext uri="{FF2B5EF4-FFF2-40B4-BE49-F238E27FC236}">
                <a16:creationId xmlns:a16="http://schemas.microsoft.com/office/drawing/2014/main" id="{357D1D9A-8E73-44C7-88CB-D2FA4A115B8F}"/>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2</a:t>
            </a:r>
          </a:p>
        </p:txBody>
      </p:sp>
      <p:sp>
        <p:nvSpPr>
          <p:cNvPr id="5" name="">
            <a:extLst xmlns:a="http://schemas.openxmlformats.org/drawingml/2006/main">
              <a:ext uri="{FF2B5EF4-FFF2-40B4-BE49-F238E27FC236}">
                <a16:creationId xmlns:a16="http://schemas.microsoft.com/office/drawing/2014/main" id="{1C024976-388B-40E7-926D-710A5ABF6DA9}"/>
              </a:ext>
            </a:extLst>
          </p:cNvPr>
          <p:cNvSpPr>
            <a:spLocks xmlns:a="http://schemas.openxmlformats.org/drawingml/2006/main" noGrp="1"/>
          </p:cNvSpPr>
          <p:nvPr/>
        </p:nvSpPr>
        <p:spPr>
          <a:xfrm xmlns:a="http://schemas.openxmlformats.org/drawingml/2006/main">
            <a:off x="552450" y="10382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75" b="1">
                <a:solidFill>
                  <a:srgbClr val="1F5FAE"/>
                </a:solidFill>
                <a:latin typeface="Calibri"/>
                <a:ea typeface="Calibri"/>
                <a:cs typeface="Calibri"/>
              </a:defRPr>
            </a:pPr>
            <a:r>
              <a:rPr sz="1575" b="1">
                <a:solidFill>
                  <a:srgbClr val="1F5FAE"/>
                </a:solidFill>
                <a:latin typeface="Calibri"/>
                <a:ea typeface="Calibri"/>
                <a:cs typeface="Calibri"/>
              </a:rPr>
              <a:t>The problem</a:t>
            </a:r>
          </a:p>
        </p:txBody>
      </p:sp>
      <p:sp>
        <p:nvSpPr>
          <p:cNvPr id="6" name="">
            <a:extLst xmlns:a="http://schemas.openxmlformats.org/drawingml/2006/main">
              <a:ext uri="{FF2B5EF4-FFF2-40B4-BE49-F238E27FC236}">
                <a16:creationId xmlns:a16="http://schemas.microsoft.com/office/drawing/2014/main" id="{A68ADE3B-D056-46D1-8D4B-6176FD2F9F1B}"/>
              </a:ext>
            </a:extLst>
          </p:cNvPr>
          <p:cNvSpPr>
            <a:spLocks xmlns:a="http://schemas.openxmlformats.org/drawingml/2006/main" noGrp="1"/>
          </p:cNvSpPr>
          <p:nvPr/>
        </p:nvSpPr>
        <p:spPr>
          <a:xfrm xmlns:a="http://schemas.openxmlformats.org/drawingml/2006/main">
            <a:off x="552450" y="1409700"/>
            <a:ext cx="795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TARGET=1: payment difficulty (about 8.07% of records).</a:t>
            </a:r>
          </a:p>
        </p:txBody>
      </p:sp>
      <p:sp>
        <p:nvSpPr>
          <p:cNvPr id="7" name="">
            <a:extLst xmlns:a="http://schemas.openxmlformats.org/drawingml/2006/main">
              <a:ext uri="{FF2B5EF4-FFF2-40B4-BE49-F238E27FC236}">
                <a16:creationId xmlns:a16="http://schemas.microsoft.com/office/drawing/2014/main" id="{E83B541E-3F54-4444-9568-291224ADCA76}"/>
              </a:ext>
            </a:extLst>
          </p:cNvPr>
          <p:cNvSpPr>
            <a:spLocks xmlns:a="http://schemas.openxmlformats.org/drawingml/2006/main" noGrp="1"/>
          </p:cNvSpPr>
          <p:nvPr/>
        </p:nvSpPr>
        <p:spPr>
          <a:xfrm xmlns:a="http://schemas.openxmlformats.org/drawingml/2006/main">
            <a:off x="552450" y="1790700"/>
            <a:ext cx="795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High accuracy can hide missed positive cases.</a:t>
            </a:r>
          </a:p>
        </p:txBody>
      </p:sp>
      <p:sp>
        <p:nvSpPr>
          <p:cNvPr id="8" name="">
            <a:extLst xmlns:a="http://schemas.openxmlformats.org/drawingml/2006/main">
              <a:ext uri="{FF2B5EF4-FFF2-40B4-BE49-F238E27FC236}">
                <a16:creationId xmlns:a16="http://schemas.microsoft.com/office/drawing/2014/main" id="{5B7AFE03-928F-470E-9615-EE71B3FEC5AC}"/>
              </a:ext>
            </a:extLst>
          </p:cNvPr>
          <p:cNvSpPr>
            <a:spLocks xmlns:a="http://schemas.openxmlformats.org/drawingml/2006/main" noGrp="1"/>
          </p:cNvSpPr>
          <p:nvPr/>
        </p:nvSpPr>
        <p:spPr>
          <a:xfrm xmlns:a="http://schemas.openxmlformats.org/drawingml/2006/main">
            <a:off x="552450" y="2171700"/>
            <a:ext cx="795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Estimate probability and expose its limitations.</a:t>
            </a:r>
          </a:p>
        </p:txBody>
      </p:sp>
      <p:sp>
        <p:nvSpPr>
          <p:cNvPr id="9" name="">
            <a:extLst xmlns:a="http://schemas.openxmlformats.org/drawingml/2006/main">
              <a:ext uri="{FF2B5EF4-FFF2-40B4-BE49-F238E27FC236}">
                <a16:creationId xmlns:a16="http://schemas.microsoft.com/office/drawing/2014/main" id="{953CAB36-2484-4DC1-A9AB-358A1BC5B534}"/>
              </a:ext>
            </a:extLst>
          </p:cNvPr>
          <p:cNvSpPr>
            <a:spLocks xmlns:a="http://schemas.openxmlformats.org/drawingml/2006/main" noGrp="1"/>
          </p:cNvSpPr>
          <p:nvPr/>
        </p:nvSpPr>
        <p:spPr>
          <a:xfrm xmlns:a="http://schemas.openxmlformats.org/drawingml/2006/main">
            <a:off x="552450" y="2552700"/>
            <a:ext cx="7953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Support a human reviewer’s assessment.</a:t>
            </a:r>
          </a:p>
        </p:txBody>
      </p:sp>
      <p:sp>
        <p:nvSpPr>
          <p:cNvPr id="10" name="">
            <a:extLst xmlns:a="http://schemas.openxmlformats.org/drawingml/2006/main">
              <a:ext uri="{FF2B5EF4-FFF2-40B4-BE49-F238E27FC236}">
                <a16:creationId xmlns:a16="http://schemas.microsoft.com/office/drawing/2014/main" id="{BA655F45-F0AD-4110-8359-8EEEFC476740}"/>
              </a:ext>
            </a:extLst>
          </p:cNvPr>
          <p:cNvSpPr>
            <a:spLocks xmlns:a="http://schemas.openxmlformats.org/drawingml/2006/main" noGrp="1"/>
          </p:cNvSpPr>
          <p:nvPr/>
        </p:nvSpPr>
        <p:spPr>
          <a:xfrm xmlns:a="http://schemas.openxmlformats.org/drawingml/2006/main">
            <a:off x="552450" y="30480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75" b="1">
                <a:solidFill>
                  <a:srgbClr val="1F5FAE"/>
                </a:solidFill>
                <a:latin typeface="Calibri"/>
                <a:ea typeface="Calibri"/>
                <a:cs typeface="Calibri"/>
              </a:defRPr>
            </a:pPr>
            <a:r>
              <a:rPr sz="1575" b="1">
                <a:solidFill>
                  <a:srgbClr val="1F5FAE"/>
                </a:solidFill>
                <a:latin typeface="Calibri"/>
                <a:ea typeface="Calibri"/>
                <a:cs typeface="Calibri"/>
              </a:rPr>
              <a:t>Implemented objectives</a:t>
            </a:r>
          </a:p>
        </p:txBody>
      </p:sp>
      <p:sp>
        <p:nvSpPr>
          <p:cNvPr id="11" name="">
            <a:extLst xmlns:a="http://schemas.openxmlformats.org/drawingml/2006/main">
              <a:ext uri="{FF2B5EF4-FFF2-40B4-BE49-F238E27FC236}">
                <a16:creationId xmlns:a16="http://schemas.microsoft.com/office/drawing/2014/main" id="{F4B12944-E32D-42C5-8968-822711276E45}"/>
              </a:ext>
            </a:extLst>
          </p:cNvPr>
          <p:cNvSpPr>
            <a:spLocks xmlns:a="http://schemas.openxmlformats.org/drawingml/2006/main" noGrp="1"/>
          </p:cNvSpPr>
          <p:nvPr/>
        </p:nvSpPr>
        <p:spPr>
          <a:xfrm xmlns:a="http://schemas.openxmlformats.org/drawingml/2006/main">
            <a:off x="552450" y="3381375"/>
            <a:ext cx="4095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Shared input schema, calibrated probabilities, data quality, model comparison, performance and diagnostic views</a:t>
            </a:r>
          </a:p>
        </p:txBody>
      </p:sp>
      <p:graphicFrame>
        <p:nvGraphicFramePr>
          <p:cNvPr id="25" name=""/>
          <p:cNvGraphicFramePr/>
          <p:nvPr/>
        </p:nvGraphicFramePr>
        <p:xfrm>
          <a:off xmlns:a="http://schemas.openxmlformats.org/drawingml/2006/main" x="5010150" y="3038475"/>
          <a:ext xmlns:a="http://schemas.openxmlformats.org/drawingml/2006/main" cx="3581400" cy="1514475"/>
        </p:xfrm>
        <a:graphic xmlns:a="http://schemas.openxmlformats.org/drawingml/2006/main">
          <a:graphicData uri="http://schemas.openxmlformats.org/drawingml/2006/table">
            <a:tbl>
              <a:tblPr/>
              <a:tblGrid>
                <a:gridCol w="1466850"/>
                <a:gridCol w="2114550"/>
              </a:tblGrid>
              <a:tr h="302895">
                <a:tc>
                  <a:txBody>
                    <a:bodyPr/>
                    <a:lstStyle/>
                    <a:p>
                      <a:r>
                        <a:rPr sz="1125" b="1">
                          <a:solidFill>
                            <a:srgbClr val="FFFFFF"/>
                          </a:solidFill>
                          <a:latin typeface="Calibri"/>
                          <a:ea typeface="Calibri"/>
                          <a:cs typeface="Calibri"/>
                        </a:rPr>
                        <a:t>Risk band</a:t>
                      </a:r>
                    </a:p>
                  </a:txBody>
                  <a:tcPr marL="91440" marR="91440" marT="45720" marB="45720">
                    <a:solidFill>
                      <a:srgbClr val="1F5FAE"/>
                    </a:solidFill>
                  </a:tcPr>
                </a:tc>
                <a:tc>
                  <a:txBody>
                    <a:bodyPr/>
                    <a:lstStyle/>
                    <a:p>
                      <a:r>
                        <a:rPr sz="1125" b="1">
                          <a:solidFill>
                            <a:srgbClr val="FFFFFF"/>
                          </a:solidFill>
                          <a:latin typeface="Calibri"/>
                          <a:ea typeface="Calibri"/>
                          <a:cs typeface="Calibri"/>
                        </a:rPr>
                        <a:t>Probability p</a:t>
                      </a:r>
                    </a:p>
                  </a:txBody>
                  <a:tcPr marL="91440" marR="91440" marT="45720" marB="45720">
                    <a:solidFill>
                      <a:srgbClr val="1F5FAE"/>
                    </a:solidFill>
                  </a:tcPr>
                </a:tc>
              </a:tr>
              <a:tr h="302895">
                <a:tc>
                  <a:txBody>
                    <a:bodyPr/>
                    <a:lstStyle/>
                    <a:p>
                      <a:r>
                        <a:rPr sz="1125" b="0">
                          <a:solidFill>
                            <a:srgbClr val="0B2E59"/>
                          </a:solidFill>
                          <a:latin typeface="Calibri"/>
                          <a:ea typeface="Calibri"/>
                          <a:cs typeface="Calibri"/>
                        </a:rPr>
                        <a:t>Low</a:t>
                      </a:r>
                    </a:p>
                  </a:txBody>
                  <a:tcPr marL="91440" marR="91440" marT="45720" marB="45720">
                    <a:solidFill>
                      <a:srgbClr val="E8F0FA"/>
                    </a:solidFill>
                  </a:tcPr>
                </a:tc>
                <a:tc>
                  <a:txBody>
                    <a:bodyPr/>
                    <a:lstStyle/>
                    <a:p>
                      <a:r>
                        <a:rPr sz="1125" b="0">
                          <a:solidFill>
                            <a:srgbClr val="0B2E59"/>
                          </a:solidFill>
                          <a:latin typeface="Calibri"/>
                          <a:ea typeface="Calibri"/>
                          <a:cs typeface="Calibri"/>
                        </a:rPr>
                        <a:t>0 ≤ p &lt; 0.08</a:t>
                      </a:r>
                    </a:p>
                  </a:txBody>
                  <a:tcPr marL="91440" marR="91440" marT="45720" marB="45720">
                    <a:solidFill>
                      <a:srgbClr val="E8F0FA"/>
                    </a:solidFill>
                  </a:tcPr>
                </a:tc>
              </a:tr>
              <a:tr h="302895">
                <a:tc>
                  <a:txBody>
                    <a:bodyPr/>
                    <a:lstStyle/>
                    <a:p>
                      <a:r>
                        <a:rPr sz="1125" b="0">
                          <a:solidFill>
                            <a:srgbClr val="0B2E59"/>
                          </a:solidFill>
                          <a:latin typeface="Calibri"/>
                          <a:ea typeface="Calibri"/>
                          <a:cs typeface="Calibri"/>
                        </a:rPr>
                        <a:t>Moderate</a:t>
                      </a:r>
                    </a:p>
                  </a:txBody>
                  <a:tcPr marL="91440" marR="91440" marT="45720" marB="45720">
                    <a:solidFill>
                      <a:srgbClr val="F3F5F7"/>
                    </a:solidFill>
                  </a:tcPr>
                </a:tc>
                <a:tc>
                  <a:txBody>
                    <a:bodyPr/>
                    <a:lstStyle/>
                    <a:p>
                      <a:r>
                        <a:rPr sz="1125" b="0">
                          <a:solidFill>
                            <a:srgbClr val="0B2E59"/>
                          </a:solidFill>
                          <a:latin typeface="Calibri"/>
                          <a:ea typeface="Calibri"/>
                          <a:cs typeface="Calibri"/>
                        </a:rPr>
                        <a:t>0.08 ≤ p &lt; 0.20</a:t>
                      </a:r>
                    </a:p>
                  </a:txBody>
                  <a:tcPr marL="91440" marR="91440" marT="45720" marB="45720">
                    <a:solidFill>
                      <a:srgbClr val="F3F5F7"/>
                    </a:solidFill>
                  </a:tcPr>
                </a:tc>
              </a:tr>
              <a:tr h="302895">
                <a:tc>
                  <a:txBody>
                    <a:bodyPr/>
                    <a:lstStyle/>
                    <a:p>
                      <a:r>
                        <a:rPr sz="1125" b="0">
                          <a:solidFill>
                            <a:srgbClr val="0B2E59"/>
                          </a:solidFill>
                          <a:latin typeface="Calibri"/>
                          <a:ea typeface="Calibri"/>
                          <a:cs typeface="Calibri"/>
                        </a:rPr>
                        <a:t>Elevated</a:t>
                      </a:r>
                    </a:p>
                  </a:txBody>
                  <a:tcPr marL="91440" marR="91440" marT="45720" marB="45720">
                    <a:solidFill>
                      <a:srgbClr val="E8F0FA"/>
                    </a:solidFill>
                  </a:tcPr>
                </a:tc>
                <a:tc>
                  <a:txBody>
                    <a:bodyPr/>
                    <a:lstStyle/>
                    <a:p>
                      <a:r>
                        <a:rPr sz="1125" b="0">
                          <a:solidFill>
                            <a:srgbClr val="0B2E59"/>
                          </a:solidFill>
                          <a:latin typeface="Calibri"/>
                          <a:ea typeface="Calibri"/>
                          <a:cs typeface="Calibri"/>
                        </a:rPr>
                        <a:t>0.20 ≤ p &lt; 0.40</a:t>
                      </a:r>
                    </a:p>
                  </a:txBody>
                  <a:tcPr marL="91440" marR="91440" marT="45720" marB="45720">
                    <a:solidFill>
                      <a:srgbClr val="E8F0FA"/>
                    </a:solidFill>
                  </a:tcPr>
                </a:tc>
              </a:tr>
              <a:tr h="302895">
                <a:tc>
                  <a:txBody>
                    <a:bodyPr/>
                    <a:lstStyle/>
                    <a:p>
                      <a:r>
                        <a:rPr sz="1125" b="0">
                          <a:solidFill>
                            <a:srgbClr val="0B2E59"/>
                          </a:solidFill>
                          <a:latin typeface="Calibri"/>
                          <a:ea typeface="Calibri"/>
                          <a:cs typeface="Calibri"/>
                        </a:rPr>
                        <a:t>High</a:t>
                      </a:r>
                    </a:p>
                  </a:txBody>
                  <a:tcPr marL="91440" marR="91440" marT="45720" marB="45720">
                    <a:solidFill>
                      <a:srgbClr val="F3F5F7"/>
                    </a:solidFill>
                  </a:tcPr>
                </a:tc>
                <a:tc>
                  <a:txBody>
                    <a:bodyPr/>
                    <a:lstStyle/>
                    <a:p>
                      <a:r>
                        <a:rPr sz="1125" b="0">
                          <a:solidFill>
                            <a:srgbClr val="0B2E59"/>
                          </a:solidFill>
                          <a:latin typeface="Calibri"/>
                          <a:ea typeface="Calibri"/>
                          <a:cs typeface="Calibri"/>
                        </a:rPr>
                        <a:t>0.40 ≤ p ≤ 1.00</a:t>
                      </a:r>
                    </a:p>
                  </a:txBody>
                  <a:tcPr marL="91440" marR="91440" marT="45720" marB="45720">
                    <a:solidFill>
                      <a:srgbClr val="F3F5F7"/>
                    </a:solidFill>
                  </a:tcPr>
                </a:tc>
              </a:tr>
            </a:tbl>
          </a:graphicData>
        </a:graphic>
      </p:graphicFrame>
      <p:sp>
        <p:nvSpPr>
          <p:cNvPr id="13" name="">
            <a:extLst xmlns:a="http://schemas.openxmlformats.org/drawingml/2006/main">
              <a:ext uri="{FF2B5EF4-FFF2-40B4-BE49-F238E27FC236}">
                <a16:creationId xmlns:a16="http://schemas.microsoft.com/office/drawing/2014/main" id="{235CEA91-1C53-41B7-A2FD-3732D4C1A2CF}"/>
              </a:ext>
            </a:extLst>
          </p:cNvPr>
          <p:cNvSpPr>
            <a:spLocks xmlns:a="http://schemas.openxmlformats.org/drawingml/2006/main" noGrp="1"/>
          </p:cNvSpPr>
          <p:nvPr/>
        </p:nvSpPr>
        <p:spPr>
          <a:xfrm xmlns:a="http://schemas.openxmlformats.org/drawingml/2006/main">
            <a:off x="552450" y="4229100"/>
            <a:ext cx="432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1">
                <a:solidFill>
                  <a:srgbClr val="1F5FAE"/>
                </a:solidFill>
                <a:latin typeface="Calibri"/>
                <a:ea typeface="Calibri"/>
                <a:cs typeface="Calibri"/>
              </a:defRPr>
            </a:pPr>
            <a:r>
              <a:rPr sz="1200" b="1">
                <a:solidFill>
                  <a:srgbClr val="1F5FAE"/>
                </a:solidFill>
                <a:latin typeface="Calibri"/>
                <a:ea typeface="Calibri"/>
                <a:cs typeface="Calibri"/>
              </a:rPr>
              <a:t>risk_score = round(p × 100)</a:t>
            </a:r>
          </a:p>
          <a:p xmlns:a="http://schemas.openxmlformats.org/drawingml/2006/main">
            <a:pPr algn="l">
              <a:defRPr sz="1200" b="1">
                <a:solidFill>
                  <a:srgbClr val="1F5FAE"/>
                </a:solidFill>
                <a:latin typeface="Calibri"/>
                <a:ea typeface="Calibri"/>
                <a:cs typeface="Calibri"/>
              </a:defRPr>
            </a:pPr>
            <a:r>
              <a:rPr sz="1200" b="1">
                <a:solidFill>
                  <a:srgbClr val="1F5FAE"/>
                </a:solidFill>
                <a:latin typeface="Calibri"/>
                <a:ea typeface="Calibri"/>
                <a:cs typeface="Calibri"/>
              </a:rPr>
              <a:t>Higher score means greater estimated difficulty</a:t>
            </a:r>
          </a:p>
        </p:txBody>
      </p:sp>
    </p:spTree>
    <p:extLst>
      <p:ext uri="{BB962C8B-B14F-4D97-AF65-F5344CB8AC3E}">
        <p14:creationId xmlns:p14="http://schemas.microsoft.com/office/powerpoint/2010/main" val="471207033"/>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39e2be84cb704e7f">
            <a:lum/>
          </a:blip>
          <a:srcRect l="0" t="0" r="0" b="0"/>
          <a:stretch>
            <a:fillRect l="0" t="0" r="0" b="0"/>
          </a:stretch>
        </a:blip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7D3900F-0EB7-4EED-87B2-EEBBD3EBD666}"/>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System Architecture &amp; Workflow</a:t>
            </a:r>
          </a:p>
        </p:txBody>
      </p:sp>
      <p:sp>
        <p:nvSpPr>
          <p:cNvPr id="2" name="">
            <a:extLst xmlns:a="http://schemas.openxmlformats.org/drawingml/2006/main">
              <a:ext uri="{FF2B5EF4-FFF2-40B4-BE49-F238E27FC236}">
                <a16:creationId xmlns:a16="http://schemas.microsoft.com/office/drawing/2014/main" id="{BAC9E2B9-65FD-4E1B-8691-93CED70CB48A}"/>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132933BF-3B89-4AD5-9820-67A00612BDAF}"/>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1</a:t>
            </a:r>
          </a:p>
        </p:txBody>
      </p:sp>
      <p:sp>
        <p:nvSpPr>
          <p:cNvPr id="4" name="">
            <a:extLst xmlns:a="http://schemas.openxmlformats.org/drawingml/2006/main">
              <a:ext uri="{FF2B5EF4-FFF2-40B4-BE49-F238E27FC236}">
                <a16:creationId xmlns:a16="http://schemas.microsoft.com/office/drawing/2014/main" id="{D30CA247-A1C6-4375-A697-5BA8F88C0CCD}"/>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3</a:t>
            </a:r>
          </a:p>
        </p:txBody>
      </p:sp>
      <p:sp>
        <p:nvSpPr>
          <p:cNvPr id="5" name="">
            <a:extLst xmlns:a="http://schemas.openxmlformats.org/drawingml/2006/main">
              <a:ext uri="{FF2B5EF4-FFF2-40B4-BE49-F238E27FC236}">
                <a16:creationId xmlns:a16="http://schemas.microsoft.com/office/drawing/2014/main" id="{A54BAEBD-C5E7-43EB-A0B2-050B0614CA72}"/>
              </a:ext>
            </a:extLst>
          </p:cNvPr>
          <p:cNvSpPr>
            <a:spLocks xmlns:a="http://schemas.openxmlformats.org/drawingml/2006/main" noGrp="1"/>
          </p:cNvSpPr>
          <p:nvPr/>
        </p:nvSpPr>
        <p:spPr>
          <a:xfrm xmlns:a="http://schemas.openxmlformats.org/drawingml/2006/main">
            <a:off x="552450" y="10001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1">
                <a:solidFill>
                  <a:srgbClr val="1F5FAE"/>
                </a:solidFill>
                <a:latin typeface="Calibri"/>
                <a:ea typeface="Calibri"/>
                <a:cs typeface="Calibri"/>
              </a:defRPr>
            </a:pPr>
            <a:r>
              <a:rPr sz="1275" b="1">
                <a:solidFill>
                  <a:srgbClr val="1F5FAE"/>
                </a:solidFill>
                <a:latin typeface="Calibri"/>
                <a:ea typeface="Calibri"/>
                <a:cs typeface="Calibri"/>
              </a:rPr>
              <a:t>OFFLINE TRAINING</a:t>
            </a:r>
          </a:p>
        </p:txBody>
      </p:sp>
      <p:sp>
        <p:nvSpPr>
          <p:cNvPr id="6" name="">
            <a:extLst xmlns:a="http://schemas.openxmlformats.org/drawingml/2006/main">
              <a:ext uri="{FF2B5EF4-FFF2-40B4-BE49-F238E27FC236}">
                <a16:creationId xmlns:a16="http://schemas.microsoft.com/office/drawing/2014/main" id="{617E66FA-50D7-4861-AC36-F10F552FF8BC}"/>
              </a:ext>
            </a:extLst>
          </p:cNvPr>
          <p:cNvSpPr>
            <a:spLocks xmlns:a="http://schemas.openxmlformats.org/drawingml/2006/main" noGrp="1"/>
          </p:cNvSpPr>
          <p:nvPr/>
        </p:nvSpPr>
        <p:spPr>
          <a:xfrm xmlns:a="http://schemas.openxmlformats.org/drawingml/2006/main">
            <a:off x="552450" y="1314450"/>
            <a:ext cx="1666875" cy="561975"/>
          </a:xfrm>
          <a:prstGeom xmlns:a="http://schemas.openxmlformats.org/drawingml/2006/main" prst="roundRect">
            <a:avLst>
              <a:gd name="adj" fmla="val 13559"/>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Load raw data</a:t>
            </a:r>
          </a:p>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Validate + manifest</a:t>
            </a:r>
          </a:p>
        </p:txBody>
      </p:sp>
      <p:sp>
        <p:nvSpPr>
          <p:cNvPr id="7" name="">
            <a:extLst xmlns:a="http://schemas.openxmlformats.org/drawingml/2006/main">
              <a:ext uri="{FF2B5EF4-FFF2-40B4-BE49-F238E27FC236}">
                <a16:creationId xmlns:a16="http://schemas.microsoft.com/office/drawing/2014/main" id="{C420AA4C-DC23-4641-805D-F9216A97C9DA}"/>
              </a:ext>
            </a:extLst>
          </p:cNvPr>
          <p:cNvSpPr>
            <a:spLocks xmlns:a="http://schemas.openxmlformats.org/drawingml/2006/main" noGrp="1"/>
          </p:cNvSpPr>
          <p:nvPr/>
        </p:nvSpPr>
        <p:spPr>
          <a:xfrm xmlns:a="http://schemas.openxmlformats.org/drawingml/2006/main">
            <a:off x="2419350" y="1314450"/>
            <a:ext cx="1666875" cy="561975"/>
          </a:xfrm>
          <a:prstGeom xmlns:a="http://schemas.openxmlformats.org/drawingml/2006/main" prst="roundRect">
            <a:avLst>
              <a:gd name="adj" fmla="val 13559"/>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Standardize</a:t>
            </a:r>
          </a:p>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Stratified splits</a:t>
            </a:r>
          </a:p>
        </p:txBody>
      </p:sp>
      <p:sp>
        <p:nvSpPr>
          <p:cNvPr id="8" name="">
            <a:extLst xmlns:a="http://schemas.openxmlformats.org/drawingml/2006/main">
              <a:ext uri="{FF2B5EF4-FFF2-40B4-BE49-F238E27FC236}">
                <a16:creationId xmlns:a16="http://schemas.microsoft.com/office/drawing/2014/main" id="{FA8F80D6-A424-400B-80AF-A54F6C940371}"/>
              </a:ext>
            </a:extLst>
          </p:cNvPr>
          <p:cNvSpPr>
            <a:spLocks xmlns:a="http://schemas.openxmlformats.org/drawingml/2006/main" noGrp="1"/>
          </p:cNvSpPr>
          <p:nvPr/>
        </p:nvSpPr>
        <p:spPr>
          <a:xfrm xmlns:a="http://schemas.openxmlformats.org/drawingml/2006/main">
            <a:off x="4286250" y="1314450"/>
            <a:ext cx="1809750" cy="561975"/>
          </a:xfrm>
          <a:prstGeom xmlns:a="http://schemas.openxmlformats.org/drawingml/2006/main" prst="roundRect">
            <a:avLst>
              <a:gd name="adj" fmla="val 13559"/>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Tune candidates</a:t>
            </a:r>
          </a:p>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Compare + select</a:t>
            </a:r>
          </a:p>
        </p:txBody>
      </p:sp>
      <p:sp>
        <p:nvSpPr>
          <p:cNvPr id="9" name="">
            <a:extLst xmlns:a="http://schemas.openxmlformats.org/drawingml/2006/main">
              <a:ext uri="{FF2B5EF4-FFF2-40B4-BE49-F238E27FC236}">
                <a16:creationId xmlns:a16="http://schemas.microsoft.com/office/drawing/2014/main" id="{1993054A-8727-4551-A942-04408C835234}"/>
              </a:ext>
            </a:extLst>
          </p:cNvPr>
          <p:cNvSpPr>
            <a:spLocks xmlns:a="http://schemas.openxmlformats.org/drawingml/2006/main" noGrp="1"/>
          </p:cNvSpPr>
          <p:nvPr/>
        </p:nvSpPr>
        <p:spPr>
          <a:xfrm xmlns:a="http://schemas.openxmlformats.org/drawingml/2006/main">
            <a:off x="6296025" y="1314450"/>
            <a:ext cx="2295525" cy="561975"/>
          </a:xfrm>
          <a:prstGeom xmlns:a="http://schemas.openxmlformats.org/drawingml/2006/main" prst="roundRect">
            <a:avLst>
              <a:gd name="adj" fmla="val 13559"/>
            </a:avLst>
          </a:prstGeom>
          <a:solidFill xmlns:a="http://schemas.openxmlformats.org/drawingml/2006/main">
            <a:srgbClr val="1F5FAE"/>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FFFFFF"/>
                </a:solidFill>
                <a:latin typeface="Calibri"/>
                <a:ea typeface="Calibri"/>
                <a:cs typeface="Calibri"/>
              </a:defRPr>
            </a:pPr>
            <a:r>
              <a:rPr sz="1200" b="1">
                <a:solidFill>
                  <a:srgbClr val="FFFFFF"/>
                </a:solidFill>
                <a:latin typeface="Calibri"/>
                <a:ea typeface="Calibri"/>
                <a:cs typeface="Calibri"/>
              </a:rPr>
              <a:t>Refit + calibrate</a:t>
            </a:r>
          </a:p>
        </p:txBody>
      </p:sp>
      <p:cxnSp>
        <p:nvCxnSpPr>
          <p:cNvPr id="37" name=""/>
          <p:cNvCxnSpPr>
            <a:stCxn xmlns:a="http://schemas.openxmlformats.org/drawingml/2006/main" id="6" idx="3"/>
            <a:endCxn xmlns:a="http://schemas.openxmlformats.org/drawingml/2006/main" id="7" idx="1"/>
          </p:cNvCxnSpPr>
          <p:nvPr/>
        </p:nvCxnSpPr>
        <p:spPr>
          <a:xfrm xmlns:a="http://schemas.openxmlformats.org/drawingml/2006/main">
            <a:off x="2219325" y="1595438"/>
            <a:ext cx="200025" cy="0"/>
          </a:xfrm>
          <a:prstGeom xmlns:a="http://schemas.openxmlformats.org/drawingml/2006/main" prst="straightConnector1">
            <a:avLst/>
          </a:prstGeom>
          <a:ln xmlns:a="http://schemas.openxmlformats.org/drawingml/2006/main" w="19050">
            <a:solidFill>
              <a:srgbClr val="1F5FAE"/>
            </a:solidFill>
            <a:tailEnd type="triangle" w="sm" len="sm"/>
          </a:ln>
        </p:spPr>
      </p:cxnSp>
      <p:cxnSp>
        <p:nvCxnSpPr>
          <p:cNvPr id="38" name=""/>
          <p:cNvCxnSpPr>
            <a:stCxn xmlns:a="http://schemas.openxmlformats.org/drawingml/2006/main" id="7" idx="3"/>
            <a:endCxn xmlns:a="http://schemas.openxmlformats.org/drawingml/2006/main" id="8" idx="1"/>
          </p:cNvCxnSpPr>
          <p:nvPr/>
        </p:nvCxnSpPr>
        <p:spPr>
          <a:xfrm xmlns:a="http://schemas.openxmlformats.org/drawingml/2006/main">
            <a:off x="4086225" y="1595438"/>
            <a:ext cx="200025" cy="0"/>
          </a:xfrm>
          <a:prstGeom xmlns:a="http://schemas.openxmlformats.org/drawingml/2006/main" prst="straightConnector1">
            <a:avLst/>
          </a:prstGeom>
          <a:ln xmlns:a="http://schemas.openxmlformats.org/drawingml/2006/main" w="19050">
            <a:solidFill>
              <a:srgbClr val="1F5FAE"/>
            </a:solidFill>
            <a:tailEnd type="triangle" w="sm" len="sm"/>
          </a:ln>
        </p:spPr>
      </p:cxnSp>
      <p:cxnSp>
        <p:nvCxnSpPr>
          <p:cNvPr id="39" name=""/>
          <p:cNvCxnSpPr>
            <a:stCxn xmlns:a="http://schemas.openxmlformats.org/drawingml/2006/main" id="8" idx="3"/>
            <a:endCxn xmlns:a="http://schemas.openxmlformats.org/drawingml/2006/main" id="9" idx="1"/>
          </p:cNvCxnSpPr>
          <p:nvPr/>
        </p:nvCxnSpPr>
        <p:spPr>
          <a:xfrm xmlns:a="http://schemas.openxmlformats.org/drawingml/2006/main">
            <a:off x="6096000" y="1595438"/>
            <a:ext cx="200025" cy="0"/>
          </a:xfrm>
          <a:prstGeom xmlns:a="http://schemas.openxmlformats.org/drawingml/2006/main" prst="straightConnector1">
            <a:avLst/>
          </a:prstGeom>
          <a:ln xmlns:a="http://schemas.openxmlformats.org/drawingml/2006/main" w="19050">
            <a:solidFill>
              <a:srgbClr val="1F5FAE"/>
            </a:solidFill>
            <a:tailEnd type="triangle" w="sm" len="sm"/>
          </a:ln>
        </p:spPr>
      </p:cxnSp>
      <p:sp>
        <p:nvSpPr>
          <p:cNvPr id="13" name="">
            <a:extLst xmlns:a="http://schemas.openxmlformats.org/drawingml/2006/main">
              <a:ext uri="{FF2B5EF4-FFF2-40B4-BE49-F238E27FC236}">
                <a16:creationId xmlns:a16="http://schemas.microsoft.com/office/drawing/2014/main" id="{659B04D9-58A7-4FE9-A8E4-E6366467FA07}"/>
              </a:ext>
            </a:extLst>
          </p:cNvPr>
          <p:cNvSpPr>
            <a:spLocks xmlns:a="http://schemas.openxmlformats.org/drawingml/2006/main" noGrp="1"/>
          </p:cNvSpPr>
          <p:nvPr/>
        </p:nvSpPr>
        <p:spPr>
          <a:xfrm xmlns:a="http://schemas.openxmlformats.org/drawingml/2006/main">
            <a:off x="6296025" y="2057400"/>
            <a:ext cx="2295525" cy="561975"/>
          </a:xfrm>
          <a:prstGeom xmlns:a="http://schemas.openxmlformats.org/drawingml/2006/main" prst="roundRect">
            <a:avLst>
              <a:gd name="adj" fmla="val 13559"/>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Evaluate test</a:t>
            </a:r>
          </a:p>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Explain + subgroup diagnostics</a:t>
            </a:r>
          </a:p>
        </p:txBody>
      </p:sp>
      <p:sp>
        <p:nvSpPr>
          <p:cNvPr id="14" name="">
            <a:extLst xmlns:a="http://schemas.openxmlformats.org/drawingml/2006/main">
              <a:ext uri="{FF2B5EF4-FFF2-40B4-BE49-F238E27FC236}">
                <a16:creationId xmlns:a16="http://schemas.microsoft.com/office/drawing/2014/main" id="{AD1E80C9-567C-4312-94C6-CCEFF6B757B9}"/>
              </a:ext>
            </a:extLst>
          </p:cNvPr>
          <p:cNvSpPr>
            <a:spLocks xmlns:a="http://schemas.openxmlformats.org/drawingml/2006/main" noGrp="1"/>
          </p:cNvSpPr>
          <p:nvPr/>
        </p:nvSpPr>
        <p:spPr>
          <a:xfrm xmlns:a="http://schemas.openxmlformats.org/drawingml/2006/main">
            <a:off x="2085975" y="2057400"/>
            <a:ext cx="2924175" cy="561975"/>
          </a:xfrm>
          <a:prstGeom xmlns:a="http://schemas.openxmlformats.org/drawingml/2006/main" prst="roundRect">
            <a:avLst>
              <a:gd name="adj" fmla="val 13559"/>
            </a:avLst>
          </a:prstGeom>
          <a:solidFill xmlns:a="http://schemas.openxmlformats.org/drawingml/2006/main">
            <a:srgbClr val="1F5FAE"/>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FFFFFF"/>
                </a:solidFill>
                <a:latin typeface="Calibri"/>
                <a:ea typeface="Calibri"/>
                <a:cs typeface="Calibri"/>
              </a:defRPr>
            </a:pPr>
            <a:r>
              <a:rPr sz="1200" b="1">
                <a:solidFill>
                  <a:srgbClr val="FFFFFF"/>
                </a:solidFill>
                <a:latin typeface="Calibri"/>
                <a:ea typeface="Calibri"/>
                <a:cs typeface="Calibri"/>
              </a:rPr>
              <a:t>Save model.joblib</a:t>
            </a:r>
          </a:p>
          <a:p xmlns:a="http://schemas.openxmlformats.org/drawingml/2006/main">
            <a:pPr algn="ctr">
              <a:defRPr sz="1200" b="1">
                <a:solidFill>
                  <a:srgbClr val="FFFFFF"/>
                </a:solidFill>
                <a:latin typeface="Calibri"/>
                <a:ea typeface="Calibri"/>
                <a:cs typeface="Calibri"/>
              </a:defRPr>
            </a:pPr>
            <a:r>
              <a:rPr sz="1200" b="1">
                <a:solidFill>
                  <a:srgbClr val="FFFFFF"/>
                </a:solidFill>
                <a:latin typeface="Calibri"/>
                <a:ea typeface="Calibri"/>
                <a:cs typeface="Calibri"/>
              </a:rPr>
              <a:t>metadata, metrics, schema, manifest</a:t>
            </a:r>
          </a:p>
        </p:txBody>
      </p:sp>
      <p:cxnSp>
        <p:nvCxnSpPr>
          <p:cNvPr id="42" name=""/>
          <p:cNvCxnSpPr>
            <a:stCxn xmlns:a="http://schemas.openxmlformats.org/drawingml/2006/main" id="9" idx="2"/>
            <a:endCxn xmlns:a="http://schemas.openxmlformats.org/drawingml/2006/main" id="13" idx="0"/>
          </p:cNvCxnSpPr>
          <p:nvPr/>
        </p:nvCxnSpPr>
        <p:spPr>
          <a:xfrm xmlns:a="http://schemas.openxmlformats.org/drawingml/2006/main">
            <a:off x="7443788" y="1876425"/>
            <a:ext cx="0" cy="180975"/>
          </a:xfrm>
          <a:prstGeom xmlns:a="http://schemas.openxmlformats.org/drawingml/2006/main" prst="straightConnector1">
            <a:avLst/>
          </a:prstGeom>
          <a:ln xmlns:a="http://schemas.openxmlformats.org/drawingml/2006/main" w="19050">
            <a:solidFill>
              <a:srgbClr val="1F5FAE"/>
            </a:solidFill>
            <a:tailEnd type="triangle" w="sm" len="sm"/>
          </a:ln>
        </p:spPr>
      </p:cxnSp>
      <p:cxnSp>
        <p:nvCxnSpPr>
          <p:cNvPr id="43" name=""/>
          <p:cNvCxnSpPr>
            <a:stCxn xmlns:a="http://schemas.openxmlformats.org/drawingml/2006/main" id="13" idx="1"/>
            <a:endCxn xmlns:a="http://schemas.openxmlformats.org/drawingml/2006/main" id="14" idx="3"/>
          </p:cNvCxnSpPr>
          <p:nvPr/>
        </p:nvCxnSpPr>
        <p:spPr>
          <a:xfrm xmlns:a="http://schemas.openxmlformats.org/drawingml/2006/main" flipH="1">
            <a:off x="5010150" y="2338388"/>
            <a:ext cx="1285875" cy="0"/>
          </a:xfrm>
          <a:prstGeom xmlns:a="http://schemas.openxmlformats.org/drawingml/2006/main" prst="straightConnector1">
            <a:avLst/>
          </a:prstGeom>
          <a:ln xmlns:a="http://schemas.openxmlformats.org/drawingml/2006/main" w="19050">
            <a:solidFill>
              <a:srgbClr val="1F5FAE"/>
            </a:solidFill>
            <a:tailEnd type="triangle" w="sm" len="sm"/>
          </a:ln>
        </p:spPr>
      </p:cxnSp>
      <p:sp>
        <p:nvSpPr>
          <p:cNvPr id="17" name="">
            <a:extLst xmlns:a="http://schemas.openxmlformats.org/drawingml/2006/main">
              <a:ext uri="{FF2B5EF4-FFF2-40B4-BE49-F238E27FC236}">
                <a16:creationId xmlns:a16="http://schemas.microsoft.com/office/drawing/2014/main" id="{39DCC3FA-0643-4BA1-8479-195AA39A56A8}"/>
              </a:ext>
            </a:extLst>
          </p:cNvPr>
          <p:cNvSpPr>
            <a:spLocks xmlns:a="http://schemas.openxmlformats.org/drawingml/2006/main" noGrp="1"/>
          </p:cNvSpPr>
          <p:nvPr/>
        </p:nvSpPr>
        <p:spPr>
          <a:xfrm xmlns:a="http://schemas.openxmlformats.org/drawingml/2006/main">
            <a:off x="552450" y="28384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1">
                <a:solidFill>
                  <a:srgbClr val="1F5FAE"/>
                </a:solidFill>
                <a:latin typeface="Calibri"/>
                <a:ea typeface="Calibri"/>
                <a:cs typeface="Calibri"/>
              </a:defRPr>
            </a:pPr>
            <a:r>
              <a:rPr sz="1275" b="1">
                <a:solidFill>
                  <a:srgbClr val="1F5FAE"/>
                </a:solidFill>
                <a:latin typeface="Calibri"/>
                <a:ea typeface="Calibri"/>
                <a:cs typeface="Calibri"/>
              </a:rPr>
              <a:t>ONLINE INFERENCE</a:t>
            </a:r>
          </a:p>
        </p:txBody>
      </p:sp>
      <p:sp>
        <p:nvSpPr>
          <p:cNvPr id="18" name="">
            <a:extLst xmlns:a="http://schemas.openxmlformats.org/drawingml/2006/main">
              <a:ext uri="{FF2B5EF4-FFF2-40B4-BE49-F238E27FC236}">
                <a16:creationId xmlns:a16="http://schemas.microsoft.com/office/drawing/2014/main" id="{739D2339-7BA3-4B0B-B01C-15CF69644286}"/>
              </a:ext>
            </a:extLst>
          </p:cNvPr>
          <p:cNvSpPr>
            <a:spLocks xmlns:a="http://schemas.openxmlformats.org/drawingml/2006/main" noGrp="1"/>
          </p:cNvSpPr>
          <p:nvPr/>
        </p:nvSpPr>
        <p:spPr>
          <a:xfrm xmlns:a="http://schemas.openxmlformats.org/drawingml/2006/main">
            <a:off x="4762500" y="2838450"/>
            <a:ext cx="3829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1">
                <a:solidFill>
                  <a:srgbClr val="1F5FAE"/>
                </a:solidFill>
                <a:latin typeface="Calibri"/>
                <a:ea typeface="Calibri"/>
                <a:cs typeface="Calibri"/>
              </a:defRPr>
            </a:pPr>
            <a:r>
              <a:rPr sz="1275" b="1">
                <a:solidFill>
                  <a:srgbClr val="1F5FAE"/>
                </a:solidFill>
                <a:latin typeface="Calibri"/>
                <a:ea typeface="Calibri"/>
                <a:cs typeface="Calibri"/>
              </a:rPr>
              <a:t>Direct Python calls within Streamlit</a:t>
            </a:r>
          </a:p>
        </p:txBody>
      </p:sp>
      <p:sp>
        <p:nvSpPr>
          <p:cNvPr id="19" name="">
            <a:extLst xmlns:a="http://schemas.openxmlformats.org/drawingml/2006/main">
              <a:ext uri="{FF2B5EF4-FFF2-40B4-BE49-F238E27FC236}">
                <a16:creationId xmlns:a16="http://schemas.microsoft.com/office/drawing/2014/main" id="{6E0D079E-F2BB-4F80-B86F-32A671E5AE38}"/>
              </a:ext>
            </a:extLst>
          </p:cNvPr>
          <p:cNvSpPr>
            <a:spLocks xmlns:a="http://schemas.openxmlformats.org/drawingml/2006/main" noGrp="1"/>
          </p:cNvSpPr>
          <p:nvPr/>
        </p:nvSpPr>
        <p:spPr>
          <a:xfrm xmlns:a="http://schemas.openxmlformats.org/drawingml/2006/main">
            <a:off x="552450" y="3257550"/>
            <a:ext cx="1790700" cy="619125"/>
          </a:xfrm>
          <a:prstGeom xmlns:a="http://schemas.openxmlformats.org/drawingml/2006/main" prst="roundRect">
            <a:avLst>
              <a:gd name="adj" fmla="val 12308"/>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Applicant form</a:t>
            </a:r>
          </a:p>
          <a:p xmlns:a="http://schemas.openxmlformats.org/drawingml/2006/main">
            <a:pPr algn="ctr">
              <a:defRPr sz="1200" b="1">
                <a:solidFill>
                  <a:srgbClr val="0B2E59"/>
                </a:solidFill>
                <a:latin typeface="Calibri"/>
                <a:ea typeface="Calibri"/>
                <a:cs typeface="Calibri"/>
              </a:defRPr>
            </a:pPr>
            <a:r>
              <a:rPr sz="1200" b="1">
                <a:solidFill>
                  <a:srgbClr val="0B2E59"/>
                </a:solidFill>
                <a:latin typeface="Calibri"/>
                <a:ea typeface="Calibri"/>
                <a:cs typeface="Calibri"/>
              </a:rPr>
              <a:t>Pydantic validation</a:t>
            </a:r>
          </a:p>
        </p:txBody>
      </p:sp>
      <p:sp>
        <p:nvSpPr>
          <p:cNvPr id="20" name="">
            <a:extLst xmlns:a="http://schemas.openxmlformats.org/drawingml/2006/main">
              <a:ext uri="{FF2B5EF4-FFF2-40B4-BE49-F238E27FC236}">
                <a16:creationId xmlns:a16="http://schemas.microsoft.com/office/drawing/2014/main" id="{74D634E3-8937-41F1-A458-92931C0E2C29}"/>
              </a:ext>
            </a:extLst>
          </p:cNvPr>
          <p:cNvSpPr>
            <a:spLocks xmlns:a="http://schemas.openxmlformats.org/drawingml/2006/main" noGrp="1"/>
          </p:cNvSpPr>
          <p:nvPr/>
        </p:nvSpPr>
        <p:spPr>
          <a:xfrm xmlns:a="http://schemas.openxmlformats.org/drawingml/2006/main">
            <a:off x="2552700" y="3257550"/>
            <a:ext cx="1990725" cy="619125"/>
          </a:xfrm>
          <a:prstGeom xmlns:a="http://schemas.openxmlformats.org/drawingml/2006/main" prst="roundRect">
            <a:avLst>
              <a:gd name="adj" fmla="val 12308"/>
            </a:avLst>
          </a:prstGeom>
          <a:solidFill xmlns:a="http://schemas.openxmlformats.org/drawingml/2006/main">
            <a:srgbClr val="1F5FAE"/>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200" b="1">
                <a:solidFill>
                  <a:srgbClr val="FFFFFF"/>
                </a:solidFill>
                <a:latin typeface="Calibri"/>
                <a:ea typeface="Calibri"/>
                <a:cs typeface="Calibri"/>
              </a:defRPr>
            </a:pPr>
            <a:r>
              <a:rPr sz="1200" b="1">
                <a:solidFill>
                  <a:srgbClr val="FFFFFF"/>
                </a:solidFill>
                <a:latin typeface="Calibri"/>
                <a:ea typeface="Calibri"/>
                <a:cs typeface="Calibri"/>
              </a:rPr>
              <a:t>Cached ModelService</a:t>
            </a:r>
          </a:p>
          <a:p xmlns:a="http://schemas.openxmlformats.org/drawingml/2006/main">
            <a:pPr algn="ctr">
              <a:defRPr sz="1200" b="1">
                <a:solidFill>
                  <a:srgbClr val="FFFFFF"/>
                </a:solidFill>
                <a:latin typeface="Calibri"/>
                <a:ea typeface="Calibri"/>
                <a:cs typeface="Calibri"/>
              </a:defRPr>
            </a:pPr>
            <a:r>
              <a:rPr sz="1200" b="1">
                <a:solidFill>
                  <a:srgbClr val="FFFFFF"/>
                </a:solidFill>
                <a:latin typeface="Calibri"/>
                <a:ea typeface="Calibri"/>
                <a:cs typeface="Calibri"/>
              </a:rPr>
              <a:t>Canonical frame + flags</a:t>
            </a:r>
          </a:p>
        </p:txBody>
      </p:sp>
      <p:sp>
        <p:nvSpPr>
          <p:cNvPr id="21" name="">
            <a:extLst xmlns:a="http://schemas.openxmlformats.org/drawingml/2006/main">
              <a:ext uri="{FF2B5EF4-FFF2-40B4-BE49-F238E27FC236}">
                <a16:creationId xmlns:a16="http://schemas.microsoft.com/office/drawing/2014/main" id="{44CE74E3-BFBF-483A-9E17-D0E03E98ACF0}"/>
              </a:ext>
            </a:extLst>
          </p:cNvPr>
          <p:cNvSpPr>
            <a:spLocks xmlns:a="http://schemas.openxmlformats.org/drawingml/2006/main" noGrp="1"/>
          </p:cNvSpPr>
          <p:nvPr/>
        </p:nvSpPr>
        <p:spPr>
          <a:xfrm xmlns:a="http://schemas.openxmlformats.org/drawingml/2006/main">
            <a:off x="4762500" y="3257550"/>
            <a:ext cx="2095500" cy="619125"/>
          </a:xfrm>
          <a:prstGeom xmlns:a="http://schemas.openxmlformats.org/drawingml/2006/main" prst="roundRect">
            <a:avLst>
              <a:gd name="adj" fmla="val 12308"/>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125" b="1">
                <a:solidFill>
                  <a:srgbClr val="0B2E59"/>
                </a:solidFill>
                <a:latin typeface="Calibri"/>
                <a:ea typeface="Calibri"/>
                <a:cs typeface="Calibri"/>
              </a:defRPr>
            </a:pPr>
            <a:r>
              <a:rPr sz="1125" b="1">
                <a:solidFill>
                  <a:srgbClr val="0B2E59"/>
                </a:solidFill>
                <a:latin typeface="Calibri"/>
                <a:ea typeface="Calibri"/>
                <a:cs typeface="Calibri"/>
              </a:rPr>
              <a:t>Saved estimator</a:t>
            </a:r>
          </a:p>
          <a:p xmlns:a="http://schemas.openxmlformats.org/drawingml/2006/main">
            <a:pPr algn="ctr">
              <a:defRPr sz="1125" b="1">
                <a:solidFill>
                  <a:srgbClr val="0B2E59"/>
                </a:solidFill>
                <a:latin typeface="Calibri"/>
                <a:ea typeface="Calibri"/>
                <a:cs typeface="Calibri"/>
              </a:defRPr>
            </a:pPr>
            <a:r>
              <a:rPr sz="1125" b="1">
                <a:solidFill>
                  <a:srgbClr val="0B2E59"/>
                </a:solidFill>
                <a:latin typeface="Calibri"/>
                <a:ea typeface="Calibri"/>
                <a:cs typeface="Calibri"/>
              </a:rPr>
              <a:t>Engineering + preprocessing</a:t>
            </a:r>
          </a:p>
          <a:p xmlns:a="http://schemas.openxmlformats.org/drawingml/2006/main">
            <a:pPr algn="ctr">
              <a:defRPr sz="1125" b="1">
                <a:solidFill>
                  <a:srgbClr val="0B2E59"/>
                </a:solidFill>
                <a:latin typeface="Calibri"/>
                <a:ea typeface="Calibri"/>
                <a:cs typeface="Calibri"/>
              </a:defRPr>
            </a:pPr>
            <a:r>
              <a:rPr sz="1125" b="1">
                <a:solidFill>
                  <a:srgbClr val="0B2E59"/>
                </a:solidFill>
                <a:latin typeface="Calibri"/>
                <a:ea typeface="Calibri"/>
                <a:cs typeface="Calibri"/>
              </a:rPr>
              <a:t>Calibrated probability</a:t>
            </a:r>
          </a:p>
        </p:txBody>
      </p:sp>
      <p:sp>
        <p:nvSpPr>
          <p:cNvPr id="22" name="">
            <a:extLst xmlns:a="http://schemas.openxmlformats.org/drawingml/2006/main">
              <a:ext uri="{FF2B5EF4-FFF2-40B4-BE49-F238E27FC236}">
                <a16:creationId xmlns:a16="http://schemas.microsoft.com/office/drawing/2014/main" id="{E40FDCBE-0ACE-4F4A-ABDF-C83321093203}"/>
              </a:ext>
            </a:extLst>
          </p:cNvPr>
          <p:cNvSpPr>
            <a:spLocks xmlns:a="http://schemas.openxmlformats.org/drawingml/2006/main" noGrp="1"/>
          </p:cNvSpPr>
          <p:nvPr/>
        </p:nvSpPr>
        <p:spPr>
          <a:xfrm xmlns:a="http://schemas.openxmlformats.org/drawingml/2006/main">
            <a:off x="7077075" y="3257550"/>
            <a:ext cx="1514475" cy="619125"/>
          </a:xfrm>
          <a:prstGeom xmlns:a="http://schemas.openxmlformats.org/drawingml/2006/main" prst="roundRect">
            <a:avLst>
              <a:gd name="adj" fmla="val 12308"/>
            </a:avLst>
          </a:prstGeom>
          <a:solidFill xmlns:a="http://schemas.openxmlformats.org/drawingml/2006/main">
            <a:srgbClr val="E8F0FA"/>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125" b="1">
                <a:solidFill>
                  <a:srgbClr val="0B2E59"/>
                </a:solidFill>
                <a:latin typeface="Calibri"/>
                <a:ea typeface="Calibri"/>
                <a:cs typeface="Calibri"/>
              </a:defRPr>
            </a:pPr>
            <a:r>
              <a:rPr sz="1125" b="1">
                <a:solidFill>
                  <a:srgbClr val="0B2E59"/>
                </a:solidFill>
                <a:latin typeface="Calibri"/>
                <a:ea typeface="Calibri"/>
                <a:cs typeface="Calibri"/>
              </a:rPr>
              <a:t>Score + band</a:t>
            </a:r>
          </a:p>
          <a:p xmlns:a="http://schemas.openxmlformats.org/drawingml/2006/main">
            <a:pPr algn="ctr">
              <a:defRPr sz="1125" b="1">
                <a:solidFill>
                  <a:srgbClr val="0B2E59"/>
                </a:solidFill>
                <a:latin typeface="Calibri"/>
                <a:ea typeface="Calibri"/>
                <a:cs typeface="Calibri"/>
              </a:defRPr>
            </a:pPr>
            <a:r>
              <a:rPr sz="1125" b="1">
                <a:solidFill>
                  <a:srgbClr val="0B2E59"/>
                </a:solidFill>
                <a:latin typeface="Calibri"/>
                <a:ea typeface="Calibri"/>
                <a:cs typeface="Calibri"/>
              </a:rPr>
              <a:t>Optional explanation</a:t>
            </a:r>
          </a:p>
          <a:p xmlns:a="http://schemas.openxmlformats.org/drawingml/2006/main">
            <a:pPr algn="ctr">
              <a:defRPr sz="1125" b="1">
                <a:solidFill>
                  <a:srgbClr val="0B2E59"/>
                </a:solidFill>
                <a:latin typeface="Calibri"/>
                <a:ea typeface="Calibri"/>
                <a:cs typeface="Calibri"/>
              </a:defRPr>
            </a:pPr>
            <a:r>
              <a:rPr sz="1125" b="1">
                <a:solidFill>
                  <a:srgbClr val="0B2E59"/>
                </a:solidFill>
                <a:latin typeface="Calibri"/>
                <a:ea typeface="Calibri"/>
                <a:cs typeface="Calibri"/>
              </a:rPr>
              <a:t>Result display</a:t>
            </a:r>
          </a:p>
        </p:txBody>
      </p:sp>
      <p:cxnSp>
        <p:nvCxnSpPr>
          <p:cNvPr id="50" name=""/>
          <p:cNvCxnSpPr>
            <a:stCxn xmlns:a="http://schemas.openxmlformats.org/drawingml/2006/main" id="19" idx="3"/>
            <a:endCxn xmlns:a="http://schemas.openxmlformats.org/drawingml/2006/main" id="20" idx="1"/>
          </p:cNvCxnSpPr>
          <p:nvPr/>
        </p:nvCxnSpPr>
        <p:spPr>
          <a:xfrm xmlns:a="http://schemas.openxmlformats.org/drawingml/2006/main">
            <a:off x="2343150" y="3567113"/>
            <a:ext cx="209550" cy="0"/>
          </a:xfrm>
          <a:prstGeom xmlns:a="http://schemas.openxmlformats.org/drawingml/2006/main" prst="straightConnector1">
            <a:avLst/>
          </a:prstGeom>
          <a:ln xmlns:a="http://schemas.openxmlformats.org/drawingml/2006/main" w="19050">
            <a:solidFill>
              <a:srgbClr val="1F5FAE"/>
            </a:solidFill>
            <a:tailEnd type="triangle" w="sm" len="sm"/>
          </a:ln>
        </p:spPr>
      </p:cxnSp>
      <p:cxnSp>
        <p:nvCxnSpPr>
          <p:cNvPr id="51" name=""/>
          <p:cNvCxnSpPr>
            <a:stCxn xmlns:a="http://schemas.openxmlformats.org/drawingml/2006/main" id="20" idx="3"/>
            <a:endCxn xmlns:a="http://schemas.openxmlformats.org/drawingml/2006/main" id="21" idx="1"/>
          </p:cNvCxnSpPr>
          <p:nvPr/>
        </p:nvCxnSpPr>
        <p:spPr>
          <a:xfrm xmlns:a="http://schemas.openxmlformats.org/drawingml/2006/main">
            <a:off x="4543425" y="3567113"/>
            <a:ext cx="219075" cy="0"/>
          </a:xfrm>
          <a:prstGeom xmlns:a="http://schemas.openxmlformats.org/drawingml/2006/main" prst="straightConnector1">
            <a:avLst/>
          </a:prstGeom>
          <a:ln xmlns:a="http://schemas.openxmlformats.org/drawingml/2006/main" w="19050">
            <a:solidFill>
              <a:srgbClr val="1F5FAE"/>
            </a:solidFill>
            <a:tailEnd type="triangle" w="sm" len="sm"/>
          </a:ln>
        </p:spPr>
      </p:cxnSp>
      <p:cxnSp>
        <p:nvCxnSpPr>
          <p:cNvPr id="52" name=""/>
          <p:cNvCxnSpPr>
            <a:stCxn xmlns:a="http://schemas.openxmlformats.org/drawingml/2006/main" id="21" idx="3"/>
            <a:endCxn xmlns:a="http://schemas.openxmlformats.org/drawingml/2006/main" id="22" idx="1"/>
          </p:cNvCxnSpPr>
          <p:nvPr/>
        </p:nvCxnSpPr>
        <p:spPr>
          <a:xfrm xmlns:a="http://schemas.openxmlformats.org/drawingml/2006/main">
            <a:off x="6858000" y="3567113"/>
            <a:ext cx="219075" cy="0"/>
          </a:xfrm>
          <a:prstGeom xmlns:a="http://schemas.openxmlformats.org/drawingml/2006/main" prst="straightConnector1">
            <a:avLst/>
          </a:prstGeom>
          <a:ln xmlns:a="http://schemas.openxmlformats.org/drawingml/2006/main" w="19050">
            <a:solidFill>
              <a:srgbClr val="1F5FAE"/>
            </a:solidFill>
            <a:tailEnd type="triangle" w="sm" len="sm"/>
          </a:ln>
        </p:spPr>
      </p:cxnSp>
      <p:cxnSp>
        <p:nvCxnSpPr>
          <p:cNvPr id="53" name=""/>
          <p:cNvCxnSpPr>
            <a:stCxn xmlns:a="http://schemas.openxmlformats.org/drawingml/2006/main" id="14" idx="2"/>
            <a:endCxn xmlns:a="http://schemas.openxmlformats.org/drawingml/2006/main" id="20" idx="0"/>
          </p:cNvCxnSpPr>
          <p:nvPr/>
        </p:nvCxnSpPr>
        <p:spPr>
          <a:xfrm xmlns:a="http://schemas.openxmlformats.org/drawingml/2006/main">
            <a:off x="3548063" y="2619375"/>
            <a:ext cx="0" cy="638175"/>
          </a:xfrm>
          <a:prstGeom xmlns:a="http://schemas.openxmlformats.org/drawingml/2006/main" prst="straightConnector1">
            <a:avLst/>
          </a:prstGeom>
          <a:ln xmlns:a="http://schemas.openxmlformats.org/drawingml/2006/main" w="19050">
            <a:solidFill>
              <a:srgbClr val="1F5FAE"/>
            </a:solidFill>
            <a:tailEnd type="triangle" w="sm" len="sm"/>
          </a:ln>
        </p:spPr>
      </p:cxnSp>
      <p:sp>
        <p:nvSpPr>
          <p:cNvPr id="27" name="">
            <a:extLst xmlns:a="http://schemas.openxmlformats.org/drawingml/2006/main">
              <a:ext uri="{FF2B5EF4-FFF2-40B4-BE49-F238E27FC236}">
                <a16:creationId xmlns:a16="http://schemas.microsoft.com/office/drawing/2014/main" id="{1774F4ED-A0ED-4C26-A91B-F5B1A354D2DB}"/>
              </a:ext>
            </a:extLst>
          </p:cNvPr>
          <p:cNvSpPr>
            <a:spLocks xmlns:a="http://schemas.openxmlformats.org/drawingml/2006/main" noGrp="1"/>
          </p:cNvSpPr>
          <p:nvPr/>
        </p:nvSpPr>
        <p:spPr>
          <a:xfrm xmlns:a="http://schemas.openxmlformats.org/drawingml/2006/main">
            <a:off x="552450" y="4162425"/>
            <a:ext cx="803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1">
                <a:solidFill>
                  <a:srgbClr val="0B2E59"/>
                </a:solidFill>
                <a:latin typeface="Calibri"/>
                <a:ea typeface="Calibri"/>
                <a:cs typeface="Calibri"/>
              </a:defRPr>
            </a:pPr>
            <a:r>
              <a:rPr sz="1425" b="1">
                <a:solidFill>
                  <a:srgbClr val="0B2E59"/>
                </a:solidFill>
                <a:latin typeface="Calibri"/>
                <a:ea typeface="Calibri"/>
                <a:cs typeface="Calibri"/>
              </a:rPr>
              <a:t>Artifact reuse: load once, no retraining during inference</a:t>
            </a:r>
          </a:p>
        </p:txBody>
      </p:sp>
    </p:spTree>
    <p:extLst>
      <p:ext uri="{BB962C8B-B14F-4D97-AF65-F5344CB8AC3E}">
        <p14:creationId xmlns:p14="http://schemas.microsoft.com/office/powerpoint/2010/main" val="340047821"/>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9ee9fb42e82e4ce5">
            <a:lum/>
          </a:blip>
          <a:srcRect l="0" t="0" r="0" b="0"/>
          <a:stretch>
            <a:fillRect l="0" t="0" r="0" b="0"/>
          </a:stretch>
        </a:blip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2738A6A-EA35-4678-8B43-B57BBB74C607}"/>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Dataset &amp; Preprocessing</a:t>
            </a:r>
          </a:p>
        </p:txBody>
      </p:sp>
      <p:sp>
        <p:nvSpPr>
          <p:cNvPr id="2" name="">
            <a:extLst xmlns:a="http://schemas.openxmlformats.org/drawingml/2006/main">
              <a:ext uri="{FF2B5EF4-FFF2-40B4-BE49-F238E27FC236}">
                <a16:creationId xmlns:a16="http://schemas.microsoft.com/office/drawing/2014/main" id="{7E7FA70B-06BF-4670-8F12-098BB0EC55AB}"/>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6B2B0015-6B07-4DE5-8928-9C66CB6CA983}"/>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2</a:t>
            </a:r>
          </a:p>
        </p:txBody>
      </p:sp>
      <p:sp>
        <p:nvSpPr>
          <p:cNvPr id="4" name="">
            <a:extLst xmlns:a="http://schemas.openxmlformats.org/drawingml/2006/main">
              <a:ext uri="{FF2B5EF4-FFF2-40B4-BE49-F238E27FC236}">
                <a16:creationId xmlns:a16="http://schemas.microsoft.com/office/drawing/2014/main" id="{DAEB1FC5-A6E6-4628-9B5D-C32CE45D2062}"/>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4</a:t>
            </a:r>
          </a:p>
        </p:txBody>
      </p:sp>
      <p:graphicFrame>
        <p:nvGraphicFramePr>
          <p:cNvPr id="21" name=""/>
          <p:cNvGraphicFramePr/>
          <p:nvPr/>
        </p:nvGraphicFramePr>
        <p:xfrm>
          <a:off xmlns:a="http://schemas.openxmlformats.org/drawingml/2006/main" x="552450" y="1028700"/>
          <a:ext xmlns:a="http://schemas.openxmlformats.org/drawingml/2006/main" cx="8039100" cy="1057275"/>
        </p:xfrm>
        <a:graphic xmlns:a="http://schemas.openxmlformats.org/drawingml/2006/main">
          <a:graphicData uri="http://schemas.openxmlformats.org/drawingml/2006/table">
            <a:tbl>
              <a:tblPr/>
              <a:tblGrid>
                <a:gridCol w="3924300"/>
                <a:gridCol w="4114800"/>
              </a:tblGrid>
              <a:tr h="352425">
                <a:tc>
                  <a:txBody>
                    <a:bodyPr/>
                    <a:lstStyle/>
                    <a:p>
                      <a:r>
                        <a:rPr sz="1275" b="1">
                          <a:solidFill>
                            <a:srgbClr val="FFFFFF"/>
                          </a:solidFill>
                          <a:latin typeface="Calibri"/>
                          <a:ea typeface="Calibri"/>
                          <a:cs typeface="Calibri"/>
                        </a:rPr>
                        <a:t>Raw application data</a:t>
                      </a:r>
                    </a:p>
                  </a:txBody>
                  <a:tcPr marL="91440" marR="91440" marT="45720" marB="45720">
                    <a:solidFill>
                      <a:srgbClr val="1F5FAE"/>
                    </a:solidFill>
                  </a:tcPr>
                </a:tc>
                <a:tc>
                  <a:txBody>
                    <a:bodyPr/>
                    <a:lstStyle/>
                    <a:p>
                      <a:r>
                        <a:rPr sz="1275" b="1">
                          <a:solidFill>
                            <a:srgbClr val="FFFFFF"/>
                          </a:solidFill>
                          <a:latin typeface="Calibri"/>
                          <a:ea typeface="Calibri"/>
                          <a:cs typeface="Calibri"/>
                        </a:rPr>
                        <a:t>Serving/model subset</a:t>
                      </a:r>
                    </a:p>
                  </a:txBody>
                  <a:tcPr marL="91440" marR="91440" marT="45720" marB="45720">
                    <a:solidFill>
                      <a:srgbClr val="1F5FAE"/>
                    </a:solidFill>
                  </a:tcPr>
                </a:tc>
              </a:tr>
              <a:tr h="352425">
                <a:tc>
                  <a:txBody>
                    <a:bodyPr/>
                    <a:lstStyle/>
                    <a:p>
                      <a:r>
                        <a:rPr sz="1275" b="0">
                          <a:solidFill>
                            <a:srgbClr val="0B2E59"/>
                          </a:solidFill>
                          <a:latin typeface="Calibri"/>
                          <a:ea typeface="Calibri"/>
                          <a:cs typeface="Calibri"/>
                        </a:rPr>
                        <a:t>307,511 rows × 122 columns</a:t>
                      </a:r>
                    </a:p>
                  </a:txBody>
                  <a:tcPr marL="91440" marR="91440" marT="45720" marB="45720">
                    <a:solidFill>
                      <a:srgbClr val="E8F0FA"/>
                    </a:solidFill>
                  </a:tcPr>
                </a:tc>
                <a:tc>
                  <a:txBody>
                    <a:bodyPr/>
                    <a:lstStyle/>
                    <a:p>
                      <a:r>
                        <a:rPr sz="1275" b="0">
                          <a:solidFill>
                            <a:srgbClr val="0B2E59"/>
                          </a:solidFill>
                          <a:latin typeface="Calibri"/>
                          <a:ea typeface="Calibri"/>
                          <a:cs typeface="Calibri"/>
                        </a:rPr>
                        <a:t>12 numeric + 9 categorical inputs</a:t>
                      </a:r>
                    </a:p>
                  </a:txBody>
                  <a:tcPr marL="91440" marR="91440" marT="45720" marB="45720">
                    <a:solidFill>
                      <a:srgbClr val="E8F0FA"/>
                    </a:solidFill>
                  </a:tcPr>
                </a:tc>
              </a:tr>
              <a:tr h="352425">
                <a:tc>
                  <a:txBody>
                    <a:bodyPr/>
                    <a:lstStyle/>
                    <a:p>
                      <a:r>
                        <a:rPr sz="1275" b="0">
                          <a:solidFill>
                            <a:srgbClr val="0B2E59"/>
                          </a:solidFill>
                          <a:latin typeface="Calibri"/>
                          <a:ea typeface="Calibri"/>
                          <a:cs typeface="Calibri"/>
                        </a:rPr>
                        <a:t>24,825 positives / 282,686 negatives</a:t>
                      </a:r>
                    </a:p>
                  </a:txBody>
                  <a:tcPr marL="91440" marR="91440" marT="45720" marB="45720">
                    <a:solidFill>
                      <a:srgbClr val="F3F5F7"/>
                    </a:solidFill>
                  </a:tcPr>
                </a:tc>
                <a:tc>
                  <a:txBody>
                    <a:bodyPr/>
                    <a:lstStyle/>
                    <a:p>
                      <a:r>
                        <a:rPr sz="1275" b="0">
                          <a:solidFill>
                            <a:srgbClr val="0B2E59"/>
                          </a:solidFill>
                          <a:latin typeface="Calibri"/>
                          <a:ea typeface="Calibri"/>
                          <a:cs typeface="Calibri"/>
                        </a:rPr>
                        <a:t>4 missingness flags + 7 engineered features</a:t>
                      </a:r>
                    </a:p>
                  </a:txBody>
                  <a:tcPr marL="91440" marR="91440" marT="45720" marB="45720">
                    <a:solidFill>
                      <a:srgbClr val="F3F5F7"/>
                    </a:solidFill>
                  </a:tcPr>
                </a:tc>
              </a:tr>
            </a:tbl>
          </a:graphicData>
        </a:graphic>
      </p:graphicFrame>
      <p:sp>
        <p:nvSpPr>
          <p:cNvPr id="6" name="">
            <a:extLst xmlns:a="http://schemas.openxmlformats.org/drawingml/2006/main">
              <a:ext uri="{FF2B5EF4-FFF2-40B4-BE49-F238E27FC236}">
                <a16:creationId xmlns:a16="http://schemas.microsoft.com/office/drawing/2014/main" id="{E75E506E-6A99-48B7-B657-E5429CFE7991}"/>
              </a:ext>
            </a:extLst>
          </p:cNvPr>
          <p:cNvSpPr>
            <a:spLocks xmlns:a="http://schemas.openxmlformats.org/drawingml/2006/main" noGrp="1"/>
          </p:cNvSpPr>
          <p:nvPr/>
        </p:nvSpPr>
        <p:spPr>
          <a:xfrm xmlns:a="http://schemas.openxmlformats.org/drawingml/2006/main">
            <a:off x="552450" y="2276475"/>
            <a:ext cx="3943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00" b="1">
                <a:solidFill>
                  <a:srgbClr val="1F5FAE"/>
                </a:solidFill>
                <a:latin typeface="Calibri"/>
                <a:ea typeface="Calibri"/>
                <a:cs typeface="Calibri"/>
              </a:defRPr>
            </a:pPr>
            <a:r>
              <a:rPr sz="1500" b="1">
                <a:solidFill>
                  <a:srgbClr val="1F5FAE"/>
                </a:solidFill>
                <a:latin typeface="Calibri"/>
                <a:ea typeface="Calibri"/>
                <a:cs typeface="Calibri"/>
              </a:rPr>
              <a:t>Validation and standardization</a:t>
            </a:r>
          </a:p>
        </p:txBody>
      </p:sp>
      <p:sp>
        <p:nvSpPr>
          <p:cNvPr id="7" name="">
            <a:extLst xmlns:a="http://schemas.openxmlformats.org/drawingml/2006/main">
              <a:ext uri="{FF2B5EF4-FFF2-40B4-BE49-F238E27FC236}">
                <a16:creationId xmlns:a16="http://schemas.microsoft.com/office/drawing/2014/main" id="{14E175FC-BE68-49C2-864D-AC5F123C5978}"/>
              </a:ext>
            </a:extLst>
          </p:cNvPr>
          <p:cNvSpPr>
            <a:spLocks xmlns:a="http://schemas.openxmlformats.org/drawingml/2006/main" noGrp="1"/>
          </p:cNvSpPr>
          <p:nvPr/>
        </p:nvSpPr>
        <p:spPr>
          <a:xfrm xmlns:a="http://schemas.openxmlformats.org/drawingml/2006/main">
            <a:off x="552450" y="26289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0B2E59"/>
                </a:solidFill>
                <a:latin typeface="Calibri"/>
                <a:ea typeface="Calibri"/>
                <a:cs typeface="Calibri"/>
              </a:defRPr>
            </a:pPr>
            <a:r>
              <a:rPr sz="1200" b="0">
                <a:solidFill>
                  <a:srgbClr val="0B2E59"/>
                </a:solidFill>
                <a:latin typeface="Calibri"/>
                <a:ea typeface="Calibri"/>
                <a:cs typeface="Calibri"/>
              </a:rPr>
              <a:t>Schema, types, missingness, duplicates, ranges</a:t>
            </a:r>
          </a:p>
        </p:txBody>
      </p:sp>
      <p:sp>
        <p:nvSpPr>
          <p:cNvPr id="8" name="">
            <a:extLst xmlns:a="http://schemas.openxmlformats.org/drawingml/2006/main">
              <a:ext uri="{FF2B5EF4-FFF2-40B4-BE49-F238E27FC236}">
                <a16:creationId xmlns:a16="http://schemas.microsoft.com/office/drawing/2014/main" id="{1CC0AC7F-BE1A-4649-8DAF-10C25766B723}"/>
              </a:ext>
            </a:extLst>
          </p:cNvPr>
          <p:cNvSpPr>
            <a:spLocks xmlns:a="http://schemas.openxmlformats.org/drawingml/2006/main" noGrp="1"/>
          </p:cNvSpPr>
          <p:nvPr/>
        </p:nvSpPr>
        <p:spPr>
          <a:xfrm xmlns:a="http://schemas.openxmlformats.org/drawingml/2006/main">
            <a:off x="552450" y="29718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0B2E59"/>
                </a:solidFill>
                <a:latin typeface="Calibri"/>
                <a:ea typeface="Calibri"/>
                <a:cs typeface="Calibri"/>
              </a:defRPr>
            </a:pPr>
            <a:r>
              <a:rPr sz="1200" b="0">
                <a:solidFill>
                  <a:srgbClr val="0B2E59"/>
                </a:solidFill>
                <a:latin typeface="Calibri"/>
                <a:ea typeface="Calibri"/>
                <a:cs typeface="Calibri"/>
              </a:rPr>
              <a:t>Sentinel 365243 and absent employment: missing</a:t>
            </a:r>
          </a:p>
        </p:txBody>
      </p:sp>
      <p:sp>
        <p:nvSpPr>
          <p:cNvPr id="9" name="">
            <a:extLst xmlns:a="http://schemas.openxmlformats.org/drawingml/2006/main">
              <a:ext uri="{FF2B5EF4-FFF2-40B4-BE49-F238E27FC236}">
                <a16:creationId xmlns:a16="http://schemas.microsoft.com/office/drawing/2014/main" id="{E5B86203-CB69-4B5A-8773-3C62ED0FF6A5}"/>
              </a:ext>
            </a:extLst>
          </p:cNvPr>
          <p:cNvSpPr>
            <a:spLocks xmlns:a="http://schemas.openxmlformats.org/drawingml/2006/main" noGrp="1"/>
          </p:cNvSpPr>
          <p:nvPr/>
        </p:nvSpPr>
        <p:spPr>
          <a:xfrm xmlns:a="http://schemas.openxmlformats.org/drawingml/2006/main">
            <a:off x="552450" y="33147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0B2E59"/>
                </a:solidFill>
                <a:latin typeface="Calibri"/>
                <a:ea typeface="Calibri"/>
                <a:cs typeface="Calibri"/>
              </a:defRPr>
            </a:pPr>
            <a:r>
              <a:rPr sz="1200" b="0">
                <a:solidFill>
                  <a:srgbClr val="0B2E59"/>
                </a:solidFill>
                <a:latin typeface="Calibri"/>
                <a:ea typeface="Calibri"/>
                <a:cs typeface="Calibri"/>
              </a:rPr>
              <a:t>Flags for employment and each external score</a:t>
            </a:r>
          </a:p>
        </p:txBody>
      </p:sp>
      <p:sp>
        <p:nvSpPr>
          <p:cNvPr id="10" name="">
            <a:extLst xmlns:a="http://schemas.openxmlformats.org/drawingml/2006/main">
              <a:ext uri="{FF2B5EF4-FFF2-40B4-BE49-F238E27FC236}">
                <a16:creationId xmlns:a16="http://schemas.microsoft.com/office/drawing/2014/main" id="{99418416-59F9-49ED-B08C-E2ACB8B617DF}"/>
              </a:ext>
            </a:extLst>
          </p:cNvPr>
          <p:cNvSpPr>
            <a:spLocks xmlns:a="http://schemas.openxmlformats.org/drawingml/2006/main" noGrp="1"/>
          </p:cNvSpPr>
          <p:nvPr/>
        </p:nvSpPr>
        <p:spPr>
          <a:xfrm xmlns:a="http://schemas.openxmlformats.org/drawingml/2006/main">
            <a:off x="552450" y="36576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0B2E59"/>
                </a:solidFill>
                <a:latin typeface="Calibri"/>
                <a:ea typeface="Calibri"/>
                <a:cs typeface="Calibri"/>
              </a:defRPr>
            </a:pPr>
            <a:r>
              <a:rPr sz="1200" b="0">
                <a:solidFill>
                  <a:srgbClr val="0B2E59"/>
                </a:solidFill>
                <a:latin typeface="Calibri"/>
                <a:ea typeface="Calibri"/>
                <a:cs typeface="Calibri"/>
              </a:rPr>
              <a:t>Stratified train / validation / test ≈ 64 / 16 / 20%</a:t>
            </a:r>
          </a:p>
        </p:txBody>
      </p:sp>
      <p:sp>
        <p:nvSpPr>
          <p:cNvPr id="11" name="">
            <a:extLst xmlns:a="http://schemas.openxmlformats.org/drawingml/2006/main">
              <a:ext uri="{FF2B5EF4-FFF2-40B4-BE49-F238E27FC236}">
                <a16:creationId xmlns:a16="http://schemas.microsoft.com/office/drawing/2014/main" id="{9EC18D76-D6CA-4DC0-8112-831CABE0D773}"/>
              </a:ext>
            </a:extLst>
          </p:cNvPr>
          <p:cNvSpPr>
            <a:spLocks xmlns:a="http://schemas.openxmlformats.org/drawingml/2006/main" noGrp="1"/>
          </p:cNvSpPr>
          <p:nvPr/>
        </p:nvSpPr>
        <p:spPr>
          <a:xfrm xmlns:a="http://schemas.openxmlformats.org/drawingml/2006/main">
            <a:off x="4762500" y="2276475"/>
            <a:ext cx="3829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00" b="1">
                <a:solidFill>
                  <a:srgbClr val="1F5FAE"/>
                </a:solidFill>
                <a:latin typeface="Calibri"/>
                <a:ea typeface="Calibri"/>
                <a:cs typeface="Calibri"/>
              </a:defRPr>
            </a:pPr>
            <a:r>
              <a:rPr sz="1500" b="1">
                <a:solidFill>
                  <a:srgbClr val="1F5FAE"/>
                </a:solidFill>
                <a:latin typeface="Calibri"/>
                <a:ea typeface="Calibri"/>
                <a:cs typeface="Calibri"/>
              </a:rPr>
              <a:t>Inside each fitted pipeline</a:t>
            </a:r>
          </a:p>
        </p:txBody>
      </p:sp>
      <p:sp>
        <p:nvSpPr>
          <p:cNvPr id="12" name="">
            <a:extLst xmlns:a="http://schemas.openxmlformats.org/drawingml/2006/main">
              <a:ext uri="{FF2B5EF4-FFF2-40B4-BE49-F238E27FC236}">
                <a16:creationId xmlns:a16="http://schemas.microsoft.com/office/drawing/2014/main" id="{5083DDDC-E6FA-4AE6-A65A-6C3074E762F7}"/>
              </a:ext>
            </a:extLst>
          </p:cNvPr>
          <p:cNvSpPr>
            <a:spLocks xmlns:a="http://schemas.openxmlformats.org/drawingml/2006/main" noGrp="1"/>
          </p:cNvSpPr>
          <p:nvPr/>
        </p:nvSpPr>
        <p:spPr>
          <a:xfrm xmlns:a="http://schemas.openxmlformats.org/drawingml/2006/main">
            <a:off x="4762500" y="26289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Numeric median imputation</a:t>
            </a:r>
          </a:p>
        </p:txBody>
      </p:sp>
      <p:sp>
        <p:nvSpPr>
          <p:cNvPr id="13" name="">
            <a:extLst xmlns:a="http://schemas.openxmlformats.org/drawingml/2006/main">
              <a:ext uri="{FF2B5EF4-FFF2-40B4-BE49-F238E27FC236}">
                <a16:creationId xmlns:a16="http://schemas.microsoft.com/office/drawing/2014/main" id="{BAF7F574-3FAA-456D-BEB2-5F3193BDB055}"/>
              </a:ext>
            </a:extLst>
          </p:cNvPr>
          <p:cNvSpPr>
            <a:spLocks xmlns:a="http://schemas.openxmlformats.org/drawingml/2006/main" noGrp="1"/>
          </p:cNvSpPr>
          <p:nvPr/>
        </p:nvSpPr>
        <p:spPr>
          <a:xfrm xmlns:a="http://schemas.openxmlformats.org/drawingml/2006/main">
            <a:off x="4762500" y="29718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Categorical constant fill + one-hot encoding</a:t>
            </a:r>
          </a:p>
        </p:txBody>
      </p:sp>
      <p:sp>
        <p:nvSpPr>
          <p:cNvPr id="14" name="">
            <a:extLst xmlns:a="http://schemas.openxmlformats.org/drawingml/2006/main">
              <a:ext uri="{FF2B5EF4-FFF2-40B4-BE49-F238E27FC236}">
                <a16:creationId xmlns:a16="http://schemas.microsoft.com/office/drawing/2014/main" id="{AD7DCEE9-034D-4A1B-A3CC-82DBD555423E}"/>
              </a:ext>
            </a:extLst>
          </p:cNvPr>
          <p:cNvSpPr>
            <a:spLocks xmlns:a="http://schemas.openxmlformats.org/drawingml/2006/main" noGrp="1"/>
          </p:cNvSpPr>
          <p:nvPr/>
        </p:nvSpPr>
        <p:spPr>
          <a:xfrm xmlns:a="http://schemas.openxmlformats.org/drawingml/2006/main">
            <a:off x="4762500" y="33147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Unknown categories ignored by the encoder</a:t>
            </a:r>
          </a:p>
        </p:txBody>
      </p:sp>
      <p:sp>
        <p:nvSpPr>
          <p:cNvPr id="15" name="">
            <a:extLst xmlns:a="http://schemas.openxmlformats.org/drawingml/2006/main">
              <a:ext uri="{FF2B5EF4-FFF2-40B4-BE49-F238E27FC236}">
                <a16:creationId xmlns:a16="http://schemas.microsoft.com/office/drawing/2014/main" id="{F62F9257-6F1A-414D-A66F-CA4B8965D3AC}"/>
              </a:ext>
            </a:extLst>
          </p:cNvPr>
          <p:cNvSpPr>
            <a:spLocks xmlns:a="http://schemas.openxmlformats.org/drawingml/2006/main" noGrp="1"/>
          </p:cNvSpPr>
          <p:nvPr/>
        </p:nvSpPr>
        <p:spPr>
          <a:xfrm xmlns:a="http://schemas.openxmlformats.org/drawingml/2006/main">
            <a:off x="4762500" y="36576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StandardScaler for Logistic Regression only</a:t>
            </a:r>
          </a:p>
        </p:txBody>
      </p:sp>
      <p:sp>
        <p:nvSpPr>
          <p:cNvPr id="16" name="">
            <a:extLst xmlns:a="http://schemas.openxmlformats.org/drawingml/2006/main">
              <a:ext uri="{FF2B5EF4-FFF2-40B4-BE49-F238E27FC236}">
                <a16:creationId xmlns:a16="http://schemas.microsoft.com/office/drawing/2014/main" id="{94925144-98F1-4BD5-B700-811ECB51A574}"/>
              </a:ext>
            </a:extLst>
          </p:cNvPr>
          <p:cNvSpPr>
            <a:spLocks xmlns:a="http://schemas.openxmlformats.org/drawingml/2006/main" noGrp="1"/>
          </p:cNvSpPr>
          <p:nvPr/>
        </p:nvSpPr>
        <p:spPr>
          <a:xfrm xmlns:a="http://schemas.openxmlformats.org/drawingml/2006/main">
            <a:off x="552450" y="4229100"/>
            <a:ext cx="8039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1">
                <a:solidFill>
                  <a:srgbClr val="0B2E59"/>
                </a:solidFill>
                <a:latin typeface="Calibri"/>
                <a:ea typeface="Calibri"/>
                <a:cs typeface="Calibri"/>
              </a:defRPr>
            </a:pPr>
            <a:r>
              <a:rPr sz="1275" b="1">
                <a:solidFill>
                  <a:srgbClr val="0B2E59"/>
                </a:solidFill>
                <a:latin typeface="Calibri"/>
                <a:ea typeface="Calibri"/>
                <a:cs typeface="Calibri"/>
              </a:rPr>
              <a:t>20,000-row synthetic fixture: tests and demos. Saved model metadata records real data.</a:t>
            </a:r>
          </a:p>
        </p:txBody>
      </p:sp>
    </p:spTree>
    <p:extLst>
      <p:ext uri="{BB962C8B-B14F-4D97-AF65-F5344CB8AC3E}">
        <p14:creationId xmlns:p14="http://schemas.microsoft.com/office/powerpoint/2010/main" val="291000625"/>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2de7d1232e9644ee">
            <a:lum/>
          </a:blip>
          <a:srcRect l="0" t="0" r="0" b="0"/>
          <a:stretch>
            <a:fillRect l="0" t="0" r="0" b="0"/>
          </a:stretch>
        </a:blip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DE6BBF-1613-40A6-91A7-51BD943D5394}"/>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Feature Engineering</a:t>
            </a:r>
          </a:p>
        </p:txBody>
      </p:sp>
      <p:sp>
        <p:nvSpPr>
          <p:cNvPr id="2" name="">
            <a:extLst xmlns:a="http://schemas.openxmlformats.org/drawingml/2006/main">
              <a:ext uri="{FF2B5EF4-FFF2-40B4-BE49-F238E27FC236}">
                <a16:creationId xmlns:a16="http://schemas.microsoft.com/office/drawing/2014/main" id="{963FB1A1-D4AA-4324-97ED-7A1A1947ED2C}"/>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6DEAB512-EE1F-4676-BD33-08CBA0AC3AE6}"/>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2</a:t>
            </a:r>
          </a:p>
        </p:txBody>
      </p:sp>
      <p:sp>
        <p:nvSpPr>
          <p:cNvPr id="4" name="">
            <a:extLst xmlns:a="http://schemas.openxmlformats.org/drawingml/2006/main">
              <a:ext uri="{FF2B5EF4-FFF2-40B4-BE49-F238E27FC236}">
                <a16:creationId xmlns:a16="http://schemas.microsoft.com/office/drawing/2014/main" id="{94B084E8-6229-430B-A9A4-BFE60908E938}"/>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5</a:t>
            </a:r>
          </a:p>
        </p:txBody>
      </p:sp>
      <p:graphicFrame>
        <p:nvGraphicFramePr>
          <p:cNvPr id="13" name=""/>
          <p:cNvGraphicFramePr/>
          <p:nvPr/>
        </p:nvGraphicFramePr>
        <p:xfrm>
          <a:off xmlns:a="http://schemas.openxmlformats.org/drawingml/2006/main" x="552450" y="1028700"/>
          <a:ext xmlns:a="http://schemas.openxmlformats.org/drawingml/2006/main" cx="8039100" cy="2543175"/>
        </p:xfrm>
        <a:graphic xmlns:a="http://schemas.openxmlformats.org/drawingml/2006/main">
          <a:graphicData uri="http://schemas.openxmlformats.org/drawingml/2006/table">
            <a:tbl>
              <a:tblPr/>
              <a:tblGrid>
                <a:gridCol w="3362325"/>
                <a:gridCol w="4676775"/>
              </a:tblGrid>
              <a:tr h="317897">
                <a:tc>
                  <a:txBody>
                    <a:bodyPr/>
                    <a:lstStyle/>
                    <a:p>
                      <a:r>
                        <a:rPr sz="1200" b="1">
                          <a:solidFill>
                            <a:srgbClr val="FFFFFF"/>
                          </a:solidFill>
                          <a:latin typeface="Calibri"/>
                          <a:ea typeface="Calibri"/>
                          <a:cs typeface="Calibri"/>
                        </a:rPr>
                        <a:t>Engineered feature</a:t>
                      </a:r>
                    </a:p>
                  </a:txBody>
                  <a:tcPr marL="91440" marR="91440" marT="45720" marB="45720">
                    <a:solidFill>
                      <a:srgbClr val="1F5FAE"/>
                    </a:solidFill>
                  </a:tcPr>
                </a:tc>
                <a:tc>
                  <a:txBody>
                    <a:bodyPr/>
                    <a:lstStyle/>
                    <a:p>
                      <a:r>
                        <a:rPr sz="1200" b="1">
                          <a:solidFill>
                            <a:srgbClr val="FFFFFF"/>
                          </a:solidFill>
                          <a:latin typeface="Calibri"/>
                          <a:ea typeface="Calibri"/>
                          <a:cs typeface="Calibri"/>
                        </a:rPr>
                        <a:t>Verified formula</a:t>
                      </a:r>
                    </a:p>
                  </a:txBody>
                  <a:tcPr marL="91440" marR="91440" marT="45720" marB="45720">
                    <a:solidFill>
                      <a:srgbClr val="1F5FAE"/>
                    </a:solidFill>
                  </a:tcPr>
                </a:tc>
              </a:tr>
              <a:tr h="317897">
                <a:tc>
                  <a:txBody>
                    <a:bodyPr/>
                    <a:lstStyle/>
                    <a:p>
                      <a:r>
                        <a:rPr sz="1200" b="0">
                          <a:solidFill>
                            <a:srgbClr val="0B2E59"/>
                          </a:solidFill>
                          <a:latin typeface="Calibri"/>
                          <a:ea typeface="Calibri"/>
                          <a:cs typeface="Calibri"/>
                        </a:rPr>
                        <a:t>CREDIT_INCOME_RATIO</a:t>
                      </a:r>
                    </a:p>
                  </a:txBody>
                  <a:tcPr marL="91440" marR="91440" marT="45720" marB="45720">
                    <a:solidFill>
                      <a:srgbClr val="E8F0FA"/>
                    </a:solidFill>
                  </a:tcPr>
                </a:tc>
                <a:tc>
                  <a:txBody>
                    <a:bodyPr/>
                    <a:lstStyle/>
                    <a:p>
                      <a:r>
                        <a:rPr sz="1200" b="0">
                          <a:solidFill>
                            <a:srgbClr val="0B2E59"/>
                          </a:solidFill>
                          <a:latin typeface="Calibri"/>
                          <a:ea typeface="Calibri"/>
                          <a:cs typeface="Calibri"/>
                        </a:rPr>
                        <a:t>AMT_CREDIT / AMT_INCOME_TOTAL</a:t>
                      </a:r>
                    </a:p>
                  </a:txBody>
                  <a:tcPr marL="91440" marR="91440" marT="45720" marB="45720">
                    <a:solidFill>
                      <a:srgbClr val="E8F0FA"/>
                    </a:solidFill>
                  </a:tcPr>
                </a:tc>
              </a:tr>
              <a:tr h="317897">
                <a:tc>
                  <a:txBody>
                    <a:bodyPr/>
                    <a:lstStyle/>
                    <a:p>
                      <a:r>
                        <a:rPr sz="1200" b="0">
                          <a:solidFill>
                            <a:srgbClr val="0B2E59"/>
                          </a:solidFill>
                          <a:latin typeface="Calibri"/>
                          <a:ea typeface="Calibri"/>
                          <a:cs typeface="Calibri"/>
                        </a:rPr>
                        <a:t>ANNUITY_INCOME_RATIO</a:t>
                      </a:r>
                    </a:p>
                  </a:txBody>
                  <a:tcPr marL="91440" marR="91440" marT="45720" marB="45720">
                    <a:solidFill>
                      <a:srgbClr val="F3F5F7"/>
                    </a:solidFill>
                  </a:tcPr>
                </a:tc>
                <a:tc>
                  <a:txBody>
                    <a:bodyPr/>
                    <a:lstStyle/>
                    <a:p>
                      <a:r>
                        <a:rPr sz="1200" b="0">
                          <a:solidFill>
                            <a:srgbClr val="0B2E59"/>
                          </a:solidFill>
                          <a:latin typeface="Calibri"/>
                          <a:ea typeface="Calibri"/>
                          <a:cs typeface="Calibri"/>
                        </a:rPr>
                        <a:t>AMT_ANNUITY / AMT_INCOME_TOTAL</a:t>
                      </a:r>
                    </a:p>
                  </a:txBody>
                  <a:tcPr marL="91440" marR="91440" marT="45720" marB="45720">
                    <a:solidFill>
                      <a:srgbClr val="F3F5F7"/>
                    </a:solidFill>
                  </a:tcPr>
                </a:tc>
              </a:tr>
              <a:tr h="317897">
                <a:tc>
                  <a:txBody>
                    <a:bodyPr/>
                    <a:lstStyle/>
                    <a:p>
                      <a:r>
                        <a:rPr sz="1200" b="0">
                          <a:solidFill>
                            <a:srgbClr val="0B2E59"/>
                          </a:solidFill>
                          <a:latin typeface="Calibri"/>
                          <a:ea typeface="Calibri"/>
                          <a:cs typeface="Calibri"/>
                        </a:rPr>
                        <a:t>CREDIT_ANNUITY_RATIO</a:t>
                      </a:r>
                    </a:p>
                  </a:txBody>
                  <a:tcPr marL="91440" marR="91440" marT="45720" marB="45720">
                    <a:solidFill>
                      <a:srgbClr val="E8F0FA"/>
                    </a:solidFill>
                  </a:tcPr>
                </a:tc>
                <a:tc>
                  <a:txBody>
                    <a:bodyPr/>
                    <a:lstStyle/>
                    <a:p>
                      <a:r>
                        <a:rPr sz="1200" b="0">
                          <a:solidFill>
                            <a:srgbClr val="0B2E59"/>
                          </a:solidFill>
                          <a:latin typeface="Calibri"/>
                          <a:ea typeface="Calibri"/>
                          <a:cs typeface="Calibri"/>
                        </a:rPr>
                        <a:t>AMT_CREDIT / AMT_ANNUITY</a:t>
                      </a:r>
                    </a:p>
                  </a:txBody>
                  <a:tcPr marL="91440" marR="91440" marT="45720" marB="45720">
                    <a:solidFill>
                      <a:srgbClr val="E8F0FA"/>
                    </a:solidFill>
                  </a:tcPr>
                </a:tc>
              </a:tr>
              <a:tr h="317897">
                <a:tc>
                  <a:txBody>
                    <a:bodyPr/>
                    <a:lstStyle/>
                    <a:p>
                      <a:r>
                        <a:rPr sz="1200" b="0">
                          <a:solidFill>
                            <a:srgbClr val="0B2E59"/>
                          </a:solidFill>
                          <a:latin typeface="Calibri"/>
                          <a:ea typeface="Calibri"/>
                          <a:cs typeface="Calibri"/>
                        </a:rPr>
                        <a:t>CREDIT_GOODS_RATIO</a:t>
                      </a:r>
                    </a:p>
                  </a:txBody>
                  <a:tcPr marL="91440" marR="91440" marT="45720" marB="45720">
                    <a:solidFill>
                      <a:srgbClr val="F3F5F7"/>
                    </a:solidFill>
                  </a:tcPr>
                </a:tc>
                <a:tc>
                  <a:txBody>
                    <a:bodyPr/>
                    <a:lstStyle/>
                    <a:p>
                      <a:r>
                        <a:rPr sz="1200" b="0">
                          <a:solidFill>
                            <a:srgbClr val="0B2E59"/>
                          </a:solidFill>
                          <a:latin typeface="Calibri"/>
                          <a:ea typeface="Calibri"/>
                          <a:cs typeface="Calibri"/>
                        </a:rPr>
                        <a:t>AMT_CREDIT / AMT_GOODS_PRICE</a:t>
                      </a:r>
                    </a:p>
                  </a:txBody>
                  <a:tcPr marL="91440" marR="91440" marT="45720" marB="45720">
                    <a:solidFill>
                      <a:srgbClr val="F3F5F7"/>
                    </a:solidFill>
                  </a:tcPr>
                </a:tc>
              </a:tr>
              <a:tr h="317897">
                <a:tc>
                  <a:txBody>
                    <a:bodyPr/>
                    <a:lstStyle/>
                    <a:p>
                      <a:r>
                        <a:rPr sz="1200" b="0">
                          <a:solidFill>
                            <a:srgbClr val="0B2E59"/>
                          </a:solidFill>
                          <a:latin typeface="Calibri"/>
                          <a:ea typeface="Calibri"/>
                          <a:cs typeface="Calibri"/>
                        </a:rPr>
                        <a:t>EMPLOYMENT_AGE_RATIO</a:t>
                      </a:r>
                    </a:p>
                  </a:txBody>
                  <a:tcPr marL="91440" marR="91440" marT="45720" marB="45720">
                    <a:solidFill>
                      <a:srgbClr val="E8F0FA"/>
                    </a:solidFill>
                  </a:tcPr>
                </a:tc>
                <a:tc>
                  <a:txBody>
                    <a:bodyPr/>
                    <a:lstStyle/>
                    <a:p>
                      <a:r>
                        <a:rPr sz="1200" b="0">
                          <a:solidFill>
                            <a:srgbClr val="0B2E59"/>
                          </a:solidFill>
                          <a:latin typeface="Calibri"/>
                          <a:ea typeface="Calibri"/>
                          <a:cs typeface="Calibri"/>
                        </a:rPr>
                        <a:t>EMPLOYMENT_YEARS / AGE_YEARS</a:t>
                      </a:r>
                    </a:p>
                  </a:txBody>
                  <a:tcPr marL="91440" marR="91440" marT="45720" marB="45720">
                    <a:solidFill>
                      <a:srgbClr val="E8F0FA"/>
                    </a:solidFill>
                  </a:tcPr>
                </a:tc>
              </a:tr>
              <a:tr h="317897">
                <a:tc>
                  <a:txBody>
                    <a:bodyPr/>
                    <a:lstStyle/>
                    <a:p>
                      <a:r>
                        <a:rPr sz="1200" b="0">
                          <a:solidFill>
                            <a:srgbClr val="0B2E59"/>
                          </a:solidFill>
                          <a:latin typeface="Calibri"/>
                          <a:ea typeface="Calibri"/>
                          <a:cs typeface="Calibri"/>
                        </a:rPr>
                        <a:t>EXT_SOURCE_MEAN</a:t>
                      </a:r>
                    </a:p>
                  </a:txBody>
                  <a:tcPr marL="91440" marR="91440" marT="45720" marB="45720">
                    <a:solidFill>
                      <a:srgbClr val="F3F5F7"/>
                    </a:solidFill>
                  </a:tcPr>
                </a:tc>
                <a:tc>
                  <a:txBody>
                    <a:bodyPr/>
                    <a:lstStyle/>
                    <a:p>
                      <a:r>
                        <a:rPr sz="1200" b="0">
                          <a:solidFill>
                            <a:srgbClr val="0B2E59"/>
                          </a:solidFill>
                          <a:latin typeface="Calibri"/>
                          <a:ea typeface="Calibri"/>
                          <a:cs typeface="Calibri"/>
                        </a:rPr>
                        <a:t>mean(EXT_SOURCE_1, EXT_SOURCE_2, EXT_SOURCE_3)</a:t>
                      </a:r>
                    </a:p>
                  </a:txBody>
                  <a:tcPr marL="91440" marR="91440" marT="45720" marB="45720">
                    <a:solidFill>
                      <a:srgbClr val="F3F5F7"/>
                    </a:solidFill>
                  </a:tcPr>
                </a:tc>
              </a:tr>
              <a:tr h="317897">
                <a:tc>
                  <a:txBody>
                    <a:bodyPr/>
                    <a:lstStyle/>
                    <a:p>
                      <a:r>
                        <a:rPr sz="1200" b="0">
                          <a:solidFill>
                            <a:srgbClr val="0B2E59"/>
                          </a:solidFill>
                          <a:latin typeface="Calibri"/>
                          <a:ea typeface="Calibri"/>
                          <a:cs typeface="Calibri"/>
                        </a:rPr>
                        <a:t>INCOME_PER_FAM_MEMBER</a:t>
                      </a:r>
                    </a:p>
                  </a:txBody>
                  <a:tcPr marL="91440" marR="91440" marT="45720" marB="45720">
                    <a:solidFill>
                      <a:srgbClr val="E8F0FA"/>
                    </a:solidFill>
                  </a:tcPr>
                </a:tc>
                <a:tc>
                  <a:txBody>
                    <a:bodyPr/>
                    <a:lstStyle/>
                    <a:p>
                      <a:r>
                        <a:rPr sz="1200" b="0">
                          <a:solidFill>
                            <a:srgbClr val="0B2E59"/>
                          </a:solidFill>
                          <a:latin typeface="Calibri"/>
                          <a:ea typeface="Calibri"/>
                          <a:cs typeface="Calibri"/>
                        </a:rPr>
                        <a:t>AMT_INCOME_TOTAL / CNT_FAM_MEMBERS</a:t>
                      </a:r>
                    </a:p>
                  </a:txBody>
                  <a:tcPr marL="91440" marR="91440" marT="45720" marB="45720">
                    <a:solidFill>
                      <a:srgbClr val="E8F0FA"/>
                    </a:solidFill>
                  </a:tcPr>
                </a:tc>
              </a:tr>
            </a:tbl>
          </a:graphicData>
        </a:graphic>
      </p:graphicFrame>
      <p:sp>
        <p:nvSpPr>
          <p:cNvPr id="6" name="">
            <a:extLst xmlns:a="http://schemas.openxmlformats.org/drawingml/2006/main">
              <a:ext uri="{FF2B5EF4-FFF2-40B4-BE49-F238E27FC236}">
                <a16:creationId xmlns:a16="http://schemas.microsoft.com/office/drawing/2014/main" id="{5E264276-2B4A-4228-8596-5CA1B00674F2}"/>
              </a:ext>
            </a:extLst>
          </p:cNvPr>
          <p:cNvSpPr>
            <a:spLocks xmlns:a="http://schemas.openxmlformats.org/drawingml/2006/main" noGrp="1"/>
          </p:cNvSpPr>
          <p:nvPr/>
        </p:nvSpPr>
        <p:spPr>
          <a:xfrm xmlns:a="http://schemas.openxmlformats.org/drawingml/2006/main">
            <a:off x="552450" y="3724275"/>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AGE_YEARS = −DAYS_BIRTH / 365.25</a:t>
            </a:r>
          </a:p>
        </p:txBody>
      </p:sp>
      <p:sp>
        <p:nvSpPr>
          <p:cNvPr id="7" name="">
            <a:extLst xmlns:a="http://schemas.openxmlformats.org/drawingml/2006/main">
              <a:ext uri="{FF2B5EF4-FFF2-40B4-BE49-F238E27FC236}">
                <a16:creationId xmlns:a16="http://schemas.microsoft.com/office/drawing/2014/main" id="{286A4B55-02A3-4628-9B90-CDA542E73D90}"/>
              </a:ext>
            </a:extLst>
          </p:cNvPr>
          <p:cNvSpPr>
            <a:spLocks xmlns:a="http://schemas.openxmlformats.org/drawingml/2006/main" noGrp="1"/>
          </p:cNvSpPr>
          <p:nvPr/>
        </p:nvSpPr>
        <p:spPr>
          <a:xfrm xmlns:a="http://schemas.openxmlformats.org/drawingml/2006/main">
            <a:off x="552450" y="4010025"/>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EMPLOYMENT_YEARS = −DAYS_EMPLOYED / 365.25, except sentinel/missing</a:t>
            </a:r>
          </a:p>
        </p:txBody>
      </p:sp>
      <p:sp>
        <p:nvSpPr>
          <p:cNvPr id="8" name="">
            <a:extLst xmlns:a="http://schemas.openxmlformats.org/drawingml/2006/main">
              <a:ext uri="{FF2B5EF4-FFF2-40B4-BE49-F238E27FC236}">
                <a16:creationId xmlns:a16="http://schemas.microsoft.com/office/drawing/2014/main" id="{66124FB2-7C27-4030-B3D5-16F4A42612DA}"/>
              </a:ext>
            </a:extLst>
          </p:cNvPr>
          <p:cNvSpPr>
            <a:spLocks xmlns:a="http://schemas.openxmlformats.org/drawingml/2006/main" noGrp="1"/>
          </p:cNvSpPr>
          <p:nvPr/>
        </p:nvSpPr>
        <p:spPr>
          <a:xfrm xmlns:a="http://schemas.openxmlformats.org/drawingml/2006/main">
            <a:off x="552450" y="4295775"/>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Ratios: zero denominator → NaN. Mean: skip NaN. Shared FeatureEngineer runs at inference.</a:t>
            </a:r>
          </a:p>
        </p:txBody>
      </p:sp>
    </p:spTree>
    <p:extLst>
      <p:ext uri="{BB962C8B-B14F-4D97-AF65-F5344CB8AC3E}">
        <p14:creationId xmlns:p14="http://schemas.microsoft.com/office/powerpoint/2010/main" val="1587992758"/>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204e45fdc6b64813">
            <a:lum/>
          </a:blip>
          <a:srcRect l="0" t="0" r="0" b="0"/>
          <a:stretch>
            <a:fillRect l="0" t="0" r="0" b="0"/>
          </a:stretch>
        </a:blip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921A7C-7B5B-4FFC-B13A-D2B8745C62D2}"/>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Models &amp; Selection</a:t>
            </a:r>
          </a:p>
        </p:txBody>
      </p:sp>
      <p:sp>
        <p:nvSpPr>
          <p:cNvPr id="2" name="">
            <a:extLst xmlns:a="http://schemas.openxmlformats.org/drawingml/2006/main">
              <a:ext uri="{FF2B5EF4-FFF2-40B4-BE49-F238E27FC236}">
                <a16:creationId xmlns:a16="http://schemas.microsoft.com/office/drawing/2014/main" id="{40FC6DB7-EDCD-43E0-99E0-1763312AEB49}"/>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E5551830-1E62-454C-8F9D-E33013B7097A}"/>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3</a:t>
            </a:r>
          </a:p>
        </p:txBody>
      </p:sp>
      <p:sp>
        <p:nvSpPr>
          <p:cNvPr id="4" name="">
            <a:extLst xmlns:a="http://schemas.openxmlformats.org/drawingml/2006/main">
              <a:ext uri="{FF2B5EF4-FFF2-40B4-BE49-F238E27FC236}">
                <a16:creationId xmlns:a16="http://schemas.microsoft.com/office/drawing/2014/main" id="{170B49D5-2F45-4755-8DB4-BBFD397ABC73}"/>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6</a:t>
            </a:r>
          </a:p>
        </p:txBody>
      </p:sp>
      <p:graphicFrame>
        <p:nvGraphicFramePr>
          <p:cNvPr id="15" name="Chart"/>
          <p:cNvGraphicFramePr/>
          <p:nvPr/>
        </p:nvGraphicFramePr>
        <p:xfrm>
          <a:off xmlns:a="http://schemas.openxmlformats.org/drawingml/2006/main" x="552450" y="1019175"/>
          <a:ext xmlns:a="http://schemas.openxmlformats.org/drawingml/2006/main" cx="4429125" cy="2295525"/>
        </p:xfrm>
        <a:graphic xmlns:a="http://schemas.openxmlformats.org/drawingml/2006/main">
          <a:graphicData uri="http://schemas.openxmlformats.org/drawingml/2006/chart">
            <c:chart xmlns:r="http://schemas.openxmlformats.org/officeDocument/2006/relationships" xmlns:c="http://schemas.openxmlformats.org/drawingml/2006/chart" r:id="Rb509757d395242f6"/>
          </a:graphicData>
        </a:graphic>
      </p:graphicFrame>
      <p:graphicFrame>
        <p:nvGraphicFramePr>
          <p:cNvPr id="16" name=""/>
          <p:cNvGraphicFramePr/>
          <p:nvPr/>
        </p:nvGraphicFramePr>
        <p:xfrm>
          <a:off xmlns:a="http://schemas.openxmlformats.org/drawingml/2006/main" x="5248275" y="1057275"/>
          <a:ext xmlns:a="http://schemas.openxmlformats.org/drawingml/2006/main" cx="3343275" cy="1704975"/>
        </p:xfrm>
        <a:graphic xmlns:a="http://schemas.openxmlformats.org/drawingml/2006/main">
          <a:graphicData uri="http://schemas.openxmlformats.org/drawingml/2006/table">
            <a:tbl>
              <a:tblPr/>
              <a:tblGrid>
                <a:gridCol w="1866900"/>
                <a:gridCol w="1476375"/>
              </a:tblGrid>
              <a:tr h="340995">
                <a:tc>
                  <a:txBody>
                    <a:bodyPr/>
                    <a:lstStyle/>
                    <a:p>
                      <a:r>
                        <a:rPr sz="1125" b="1">
                          <a:solidFill>
                            <a:srgbClr val="FFFFFF"/>
                          </a:solidFill>
                          <a:latin typeface="Calibri"/>
                          <a:ea typeface="Calibri"/>
                          <a:cs typeface="Calibri"/>
                        </a:rPr>
                        <a:t>Model</a:t>
                      </a:r>
                    </a:p>
                  </a:txBody>
                  <a:tcPr marL="91440" marR="91440" marT="45720" marB="45720">
                    <a:solidFill>
                      <a:srgbClr val="1F5FAE"/>
                    </a:solidFill>
                  </a:tcPr>
                </a:tc>
                <a:tc>
                  <a:txBody>
                    <a:bodyPr/>
                    <a:lstStyle/>
                    <a:p>
                      <a:r>
                        <a:rPr sz="1125" b="1">
                          <a:solidFill>
                            <a:srgbClr val="FFFFFF"/>
                          </a:solidFill>
                          <a:latin typeface="Calibri"/>
                          <a:ea typeface="Calibri"/>
                          <a:cs typeface="Calibri"/>
                        </a:rPr>
                        <a:t>CV mean ± SD</a:t>
                      </a:r>
                    </a:p>
                  </a:txBody>
                  <a:tcPr marL="91440" marR="91440" marT="45720" marB="45720">
                    <a:solidFill>
                      <a:srgbClr val="1F5FAE"/>
                    </a:solidFill>
                  </a:tcPr>
                </a:tc>
              </a:tr>
              <a:tr h="340995">
                <a:tc>
                  <a:txBody>
                    <a:bodyPr/>
                    <a:lstStyle/>
                    <a:p>
                      <a:r>
                        <a:rPr sz="1125" b="0">
                          <a:solidFill>
                            <a:srgbClr val="0B2E59"/>
                          </a:solidFill>
                          <a:latin typeface="Calibri"/>
                          <a:ea typeface="Calibri"/>
                          <a:cs typeface="Calibri"/>
                        </a:rPr>
                        <a:t>Logistic Regression</a:t>
                      </a:r>
                    </a:p>
                  </a:txBody>
                  <a:tcPr marL="91440" marR="91440" marT="45720" marB="45720">
                    <a:solidFill>
                      <a:srgbClr val="E8F0FA"/>
                    </a:solidFill>
                  </a:tcPr>
                </a:tc>
                <a:tc>
                  <a:txBody>
                    <a:bodyPr/>
                    <a:lstStyle/>
                    <a:p>
                      <a:r>
                        <a:rPr sz="1125" b="0">
                          <a:solidFill>
                            <a:srgbClr val="0B2E59"/>
                          </a:solidFill>
                          <a:latin typeface="Calibri"/>
                          <a:ea typeface="Calibri"/>
                          <a:cs typeface="Calibri"/>
                        </a:rPr>
                        <a:t>0.7433 ± 0.0050</a:t>
                      </a:r>
                    </a:p>
                  </a:txBody>
                  <a:tcPr marL="91440" marR="91440" marT="45720" marB="45720">
                    <a:solidFill>
                      <a:srgbClr val="E8F0FA"/>
                    </a:solidFill>
                  </a:tcPr>
                </a:tc>
              </a:tr>
              <a:tr h="340995">
                <a:tc>
                  <a:txBody>
                    <a:bodyPr/>
                    <a:lstStyle/>
                    <a:p>
                      <a:r>
                        <a:rPr sz="1125" b="0">
                          <a:solidFill>
                            <a:srgbClr val="0B2E59"/>
                          </a:solidFill>
                          <a:latin typeface="Calibri"/>
                          <a:ea typeface="Calibri"/>
                          <a:cs typeface="Calibri"/>
                        </a:rPr>
                        <a:t>Decision Tree</a:t>
                      </a:r>
                    </a:p>
                  </a:txBody>
                  <a:tcPr marL="91440" marR="91440" marT="45720" marB="45720">
                    <a:solidFill>
                      <a:srgbClr val="F3F5F7"/>
                    </a:solidFill>
                  </a:tcPr>
                </a:tc>
                <a:tc>
                  <a:txBody>
                    <a:bodyPr/>
                    <a:lstStyle/>
                    <a:p>
                      <a:r>
                        <a:rPr sz="1125" b="0">
                          <a:solidFill>
                            <a:srgbClr val="0B2E59"/>
                          </a:solidFill>
                          <a:latin typeface="Calibri"/>
                          <a:ea typeface="Calibri"/>
                          <a:cs typeface="Calibri"/>
                        </a:rPr>
                        <a:t>0.7250 ± 0.0049</a:t>
                      </a:r>
                    </a:p>
                  </a:txBody>
                  <a:tcPr marL="91440" marR="91440" marT="45720" marB="45720">
                    <a:solidFill>
                      <a:srgbClr val="F3F5F7"/>
                    </a:solidFill>
                  </a:tcPr>
                </a:tc>
              </a:tr>
              <a:tr h="340995">
                <a:tc>
                  <a:txBody>
                    <a:bodyPr/>
                    <a:lstStyle/>
                    <a:p>
                      <a:r>
                        <a:rPr sz="1125" b="0">
                          <a:solidFill>
                            <a:srgbClr val="0B2E59"/>
                          </a:solidFill>
                          <a:latin typeface="Calibri"/>
                          <a:ea typeface="Calibri"/>
                          <a:cs typeface="Calibri"/>
                        </a:rPr>
                        <a:t>Random Forest</a:t>
                      </a:r>
                    </a:p>
                  </a:txBody>
                  <a:tcPr marL="91440" marR="91440" marT="45720" marB="45720">
                    <a:solidFill>
                      <a:srgbClr val="E8F0FA"/>
                    </a:solidFill>
                  </a:tcPr>
                </a:tc>
                <a:tc>
                  <a:txBody>
                    <a:bodyPr/>
                    <a:lstStyle/>
                    <a:p>
                      <a:r>
                        <a:rPr sz="1125" b="0">
                          <a:solidFill>
                            <a:srgbClr val="0B2E59"/>
                          </a:solidFill>
                          <a:latin typeface="Calibri"/>
                          <a:ea typeface="Calibri"/>
                          <a:cs typeface="Calibri"/>
                        </a:rPr>
                        <a:t>0.7498 ± 0.0049</a:t>
                      </a:r>
                    </a:p>
                  </a:txBody>
                  <a:tcPr marL="91440" marR="91440" marT="45720" marB="45720">
                    <a:solidFill>
                      <a:srgbClr val="E8F0FA"/>
                    </a:solidFill>
                  </a:tcPr>
                </a:tc>
              </a:tr>
              <a:tr h="340995">
                <a:tc>
                  <a:txBody>
                    <a:bodyPr/>
                    <a:lstStyle/>
                    <a:p>
                      <a:r>
                        <a:rPr sz="1125" b="0">
                          <a:solidFill>
                            <a:srgbClr val="0B2E59"/>
                          </a:solidFill>
                          <a:latin typeface="Calibri"/>
                          <a:ea typeface="Calibri"/>
                          <a:cs typeface="Calibri"/>
                        </a:rPr>
                        <a:t>XGBoost (selected)</a:t>
                      </a:r>
                    </a:p>
                  </a:txBody>
                  <a:tcPr marL="91440" marR="91440" marT="45720" marB="45720">
                    <a:solidFill>
                      <a:srgbClr val="F3F5F7"/>
                    </a:solidFill>
                  </a:tcPr>
                </a:tc>
                <a:tc>
                  <a:txBody>
                    <a:bodyPr/>
                    <a:lstStyle/>
                    <a:p>
                      <a:r>
                        <a:rPr sz="1125" b="0">
                          <a:solidFill>
                            <a:srgbClr val="0B2E59"/>
                          </a:solidFill>
                          <a:latin typeface="Calibri"/>
                          <a:ea typeface="Calibri"/>
                          <a:cs typeface="Calibri"/>
                        </a:rPr>
                        <a:t>0.7571 ± 0.0047</a:t>
                      </a:r>
                    </a:p>
                  </a:txBody>
                  <a:tcPr marL="91440" marR="91440" marT="45720" marB="45720">
                    <a:solidFill>
                      <a:srgbClr val="F3F5F7"/>
                    </a:solidFill>
                  </a:tcPr>
                </a:tc>
              </a:tr>
            </a:tbl>
          </a:graphicData>
        </a:graphic>
      </p:graphicFrame>
      <p:sp>
        <p:nvSpPr>
          <p:cNvPr id="7" name="">
            <a:extLst xmlns:a="http://schemas.openxmlformats.org/drawingml/2006/main">
              <a:ext uri="{FF2B5EF4-FFF2-40B4-BE49-F238E27FC236}">
                <a16:creationId xmlns:a16="http://schemas.microsoft.com/office/drawing/2014/main" id="{2796B334-8E15-48C0-B0FA-02A6F9D6CDD5}"/>
              </a:ext>
            </a:extLst>
          </p:cNvPr>
          <p:cNvSpPr>
            <a:spLocks xmlns:a="http://schemas.openxmlformats.org/drawingml/2006/main" noGrp="1"/>
          </p:cNvSpPr>
          <p:nvPr/>
        </p:nvSpPr>
        <p:spPr>
          <a:xfrm xmlns:a="http://schemas.openxmlformats.org/drawingml/2006/main">
            <a:off x="552450" y="3381375"/>
            <a:ext cx="8039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Tune RF + XGBoost on 40,000 stratified TRAIN+VAL rows (8 trials, 3 folds). Compare candidates, then select by 5-fold CV on TRAIN+VAL.</a:t>
            </a:r>
          </a:p>
        </p:txBody>
      </p:sp>
      <p:sp>
        <p:nvSpPr>
          <p:cNvPr id="8" name="">
            <a:extLst xmlns:a="http://schemas.openxmlformats.org/drawingml/2006/main">
              <a:ext uri="{FF2B5EF4-FFF2-40B4-BE49-F238E27FC236}">
                <a16:creationId xmlns:a16="http://schemas.microsoft.com/office/drawing/2014/main" id="{F7A2FAA7-B8F6-44B2-994B-95227B512667}"/>
              </a:ext>
            </a:extLst>
          </p:cNvPr>
          <p:cNvSpPr>
            <a:spLocks xmlns:a="http://schemas.openxmlformats.org/drawingml/2006/main" noGrp="1"/>
          </p:cNvSpPr>
          <p:nvPr/>
        </p:nvSpPr>
        <p:spPr>
          <a:xfrm xmlns:a="http://schemas.openxmlformats.org/drawingml/2006/main">
            <a:off x="552450" y="3914775"/>
            <a:ext cx="803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350" b="1">
                <a:solidFill>
                  <a:srgbClr val="1F5FAE"/>
                </a:solidFill>
                <a:latin typeface="Calibri"/>
                <a:ea typeface="Calibri"/>
                <a:cs typeface="Calibri"/>
              </a:defRPr>
            </a:pPr>
            <a:r>
              <a:rPr sz="1350" b="1">
                <a:solidFill>
                  <a:srgbClr val="1F5FAE"/>
                </a:solidFill>
                <a:latin typeface="Calibri"/>
                <a:ea typeface="Calibri"/>
                <a:cs typeface="Calibri"/>
              </a:rPr>
              <a:t>Refit best pipeline, then isotonic calibration: 3-fold cloning and refitting.</a:t>
            </a:r>
          </a:p>
        </p:txBody>
      </p:sp>
      <p:sp>
        <p:nvSpPr>
          <p:cNvPr id="9" name="">
            <a:extLst xmlns:a="http://schemas.openxmlformats.org/drawingml/2006/main">
              <a:ext uri="{FF2B5EF4-FFF2-40B4-BE49-F238E27FC236}">
                <a16:creationId xmlns:a16="http://schemas.microsoft.com/office/drawing/2014/main" id="{6489C928-069F-4428-9D6A-0F44248BD976}"/>
              </a:ext>
            </a:extLst>
          </p:cNvPr>
          <p:cNvSpPr>
            <a:spLocks xmlns:a="http://schemas.openxmlformats.org/drawingml/2006/main" noGrp="1"/>
          </p:cNvSpPr>
          <p:nvPr/>
        </p:nvSpPr>
        <p:spPr>
          <a:xfrm xmlns:a="http://schemas.openxmlformats.org/drawingml/2006/main">
            <a:off x="552450" y="4229100"/>
            <a:ext cx="803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0B2E59"/>
                </a:solidFill>
                <a:latin typeface="Calibri"/>
                <a:ea typeface="Calibri"/>
                <a:cs typeface="Calibri"/>
              </a:defRPr>
            </a:pPr>
            <a:r>
              <a:rPr sz="1200" b="0">
                <a:solidFill>
                  <a:srgbClr val="0B2E59"/>
                </a:solidFill>
                <a:latin typeface="Calibri"/>
                <a:ea typeface="Calibri"/>
                <a:cs typeface="Calibri"/>
              </a:rPr>
              <a:t>Tuned XGBoost: 300 trees, depth 4, rate 0.03, subsample 0.7, columns 0.8</a:t>
            </a:r>
          </a:p>
        </p:txBody>
      </p:sp>
      <p:sp>
        <p:nvSpPr>
          <p:cNvPr id="10" name="">
            <a:extLst xmlns:a="http://schemas.openxmlformats.org/drawingml/2006/main">
              <a:ext uri="{FF2B5EF4-FFF2-40B4-BE49-F238E27FC236}">
                <a16:creationId xmlns:a16="http://schemas.microsoft.com/office/drawing/2014/main" id="{443B17B7-F04E-4649-B813-66CDE11CD4C7}"/>
              </a:ext>
            </a:extLst>
          </p:cNvPr>
          <p:cNvSpPr>
            <a:spLocks xmlns:a="http://schemas.openxmlformats.org/drawingml/2006/main" noGrp="1"/>
          </p:cNvSpPr>
          <p:nvPr/>
        </p:nvSpPr>
        <p:spPr>
          <a:xfrm xmlns:a="http://schemas.openxmlformats.org/drawingml/2006/main">
            <a:off x="552450" y="4476750"/>
            <a:ext cx="803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050" b="0">
                <a:solidFill>
                  <a:srgbClr val="5B6770"/>
                </a:solidFill>
                <a:latin typeface="Calibri"/>
                <a:ea typeface="Calibri"/>
                <a:cs typeface="Calibri"/>
              </a:defRPr>
            </a:pPr>
            <a:r>
              <a:rPr sz="1050" b="0">
                <a:solidFill>
                  <a:srgbClr val="5B6770"/>
                </a:solidFill>
                <a:latin typeface="Calibri"/>
                <a:ea typeface="Calibri"/>
                <a:cs typeface="Calibri"/>
              </a:rPr>
              <a:t>Qualification: reused validation data; this procedure is not nested CV.</a:t>
            </a:r>
          </a:p>
        </p:txBody>
      </p:sp>
    </p:spTree>
    <p:extLst>
      <p:ext uri="{BB962C8B-B14F-4D97-AF65-F5344CB8AC3E}">
        <p14:creationId xmlns:p14="http://schemas.microsoft.com/office/powerpoint/2010/main" val="1979694195"/>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487fe82438a947a1">
            <a:lum/>
          </a:blip>
          <a:srcRect l="0" t="0" r="0" b="0"/>
          <a:stretch>
            <a:fillRect l="0" t="0" r="0" b="0"/>
          </a:stretch>
        </a:blip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202C1A0-E0E2-416F-B491-55B27891B6E0}"/>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Performance &amp; Threshold Analysis</a:t>
            </a:r>
          </a:p>
        </p:txBody>
      </p:sp>
      <p:sp>
        <p:nvSpPr>
          <p:cNvPr id="2" name="">
            <a:extLst xmlns:a="http://schemas.openxmlformats.org/drawingml/2006/main">
              <a:ext uri="{FF2B5EF4-FFF2-40B4-BE49-F238E27FC236}">
                <a16:creationId xmlns:a16="http://schemas.microsoft.com/office/drawing/2014/main" id="{9100A63E-B352-4C6C-9395-769A240CA44D}"/>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BD1E937D-4D14-4809-8FD9-1F938D51D1A6}"/>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3</a:t>
            </a:r>
          </a:p>
        </p:txBody>
      </p:sp>
      <p:sp>
        <p:nvSpPr>
          <p:cNvPr id="4" name="">
            <a:extLst xmlns:a="http://schemas.openxmlformats.org/drawingml/2006/main">
              <a:ext uri="{FF2B5EF4-FFF2-40B4-BE49-F238E27FC236}">
                <a16:creationId xmlns:a16="http://schemas.microsoft.com/office/drawing/2014/main" id="{EEDE0AF5-4CD9-4A41-84C3-9E1E15C77790}"/>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7</a:t>
            </a:r>
          </a:p>
        </p:txBody>
      </p:sp>
      <p:graphicFrame>
        <p:nvGraphicFramePr>
          <p:cNvPr id="18" name=""/>
          <p:cNvGraphicFramePr/>
          <p:nvPr/>
        </p:nvGraphicFramePr>
        <p:xfrm>
          <a:off xmlns:a="http://schemas.openxmlformats.org/drawingml/2006/main" x="552450" y="1028700"/>
          <a:ext xmlns:a="http://schemas.openxmlformats.org/drawingml/2006/main" cx="8039100" cy="685800"/>
        </p:xfrm>
        <a:graphic xmlns:a="http://schemas.openxmlformats.org/drawingml/2006/main">
          <a:graphicData uri="http://schemas.openxmlformats.org/drawingml/2006/table">
            <a:tbl>
              <a:tblPr/>
              <a:tblGrid>
                <a:gridCol w="2009775"/>
                <a:gridCol w="2009775"/>
                <a:gridCol w="2009775"/>
                <a:gridCol w="2009775"/>
              </a:tblGrid>
              <a:tr h="342900">
                <a:tc>
                  <a:txBody>
                    <a:bodyPr/>
                    <a:lstStyle/>
                    <a:p>
                      <a:r>
                        <a:rPr sz="1500" b="1">
                          <a:solidFill>
                            <a:srgbClr val="FFFFFF"/>
                          </a:solidFill>
                          <a:latin typeface="Calibri"/>
                          <a:ea typeface="Calibri"/>
                          <a:cs typeface="Calibri"/>
                        </a:rPr>
                        <a:t>ROC-AUC</a:t>
                      </a:r>
                    </a:p>
                  </a:txBody>
                  <a:tcPr marL="91440" marR="91440" marT="45720" marB="45720">
                    <a:solidFill>
                      <a:srgbClr val="1F5FAE"/>
                    </a:solidFill>
                  </a:tcPr>
                </a:tc>
                <a:tc>
                  <a:txBody>
                    <a:bodyPr/>
                    <a:lstStyle/>
                    <a:p>
                      <a:r>
                        <a:rPr sz="1500" b="1">
                          <a:solidFill>
                            <a:srgbClr val="FFFFFF"/>
                          </a:solidFill>
                          <a:latin typeface="Calibri"/>
                          <a:ea typeface="Calibri"/>
                          <a:cs typeface="Calibri"/>
                        </a:rPr>
                        <a:t>PR-AUC (AP)</a:t>
                      </a:r>
                    </a:p>
                  </a:txBody>
                  <a:tcPr marL="91440" marR="91440" marT="45720" marB="45720">
                    <a:solidFill>
                      <a:srgbClr val="1F5FAE"/>
                    </a:solidFill>
                  </a:tcPr>
                </a:tc>
                <a:tc>
                  <a:txBody>
                    <a:bodyPr/>
                    <a:lstStyle/>
                    <a:p>
                      <a:r>
                        <a:rPr sz="1500" b="1">
                          <a:solidFill>
                            <a:srgbClr val="FFFFFF"/>
                          </a:solidFill>
                          <a:latin typeface="Calibri"/>
                          <a:ea typeface="Calibri"/>
                          <a:cs typeface="Calibri"/>
                        </a:rPr>
                        <a:t>Brier score</a:t>
                      </a:r>
                    </a:p>
                  </a:txBody>
                  <a:tcPr marL="91440" marR="91440" marT="45720" marB="45720">
                    <a:solidFill>
                      <a:srgbClr val="1F5FAE"/>
                    </a:solidFill>
                  </a:tcPr>
                </a:tc>
                <a:tc>
                  <a:txBody>
                    <a:bodyPr/>
                    <a:lstStyle/>
                    <a:p>
                      <a:r>
                        <a:rPr sz="1500" b="1">
                          <a:solidFill>
                            <a:srgbClr val="FFFFFF"/>
                          </a:solidFill>
                          <a:latin typeface="Calibri"/>
                          <a:ea typeface="Calibri"/>
                          <a:cs typeface="Calibri"/>
                        </a:rPr>
                        <a:t>Accuracy @ 0.5</a:t>
                      </a:r>
                    </a:p>
                  </a:txBody>
                  <a:tcPr marL="91440" marR="91440" marT="45720" marB="45720">
                    <a:solidFill>
                      <a:srgbClr val="1F5FAE"/>
                    </a:solidFill>
                  </a:tcPr>
                </a:tc>
              </a:tr>
              <a:tr h="342900">
                <a:tc>
                  <a:txBody>
                    <a:bodyPr/>
                    <a:lstStyle/>
                    <a:p>
                      <a:r>
                        <a:rPr sz="1500" b="0">
                          <a:solidFill>
                            <a:srgbClr val="0B2E59"/>
                          </a:solidFill>
                          <a:latin typeface="Calibri"/>
                          <a:ea typeface="Calibri"/>
                          <a:cs typeface="Calibri"/>
                        </a:rPr>
                        <a:t>0.7615</a:t>
                      </a:r>
                    </a:p>
                  </a:txBody>
                  <a:tcPr marL="91440" marR="91440" marT="45720" marB="45720">
                    <a:solidFill>
                      <a:srgbClr val="E8F0FA"/>
                    </a:solidFill>
                  </a:tcPr>
                </a:tc>
                <a:tc>
                  <a:txBody>
                    <a:bodyPr/>
                    <a:lstStyle/>
                    <a:p>
                      <a:r>
                        <a:rPr sz="1500" b="0">
                          <a:solidFill>
                            <a:srgbClr val="0B2E59"/>
                          </a:solidFill>
                          <a:latin typeface="Calibri"/>
                          <a:ea typeface="Calibri"/>
                          <a:cs typeface="Calibri"/>
                        </a:rPr>
                        <a:t>0.2504</a:t>
                      </a:r>
                    </a:p>
                  </a:txBody>
                  <a:tcPr marL="91440" marR="91440" marT="45720" marB="45720">
                    <a:solidFill>
                      <a:srgbClr val="E8F0FA"/>
                    </a:solidFill>
                  </a:tcPr>
                </a:tc>
                <a:tc>
                  <a:txBody>
                    <a:bodyPr/>
                    <a:lstStyle/>
                    <a:p>
                      <a:r>
                        <a:rPr sz="1500" b="0">
                          <a:solidFill>
                            <a:srgbClr val="0B2E59"/>
                          </a:solidFill>
                          <a:latin typeface="Calibri"/>
                          <a:ea typeface="Calibri"/>
                          <a:cs typeface="Calibri"/>
                        </a:rPr>
                        <a:t>0.0675</a:t>
                      </a:r>
                    </a:p>
                  </a:txBody>
                  <a:tcPr marL="91440" marR="91440" marT="45720" marB="45720">
                    <a:solidFill>
                      <a:srgbClr val="E8F0FA"/>
                    </a:solidFill>
                  </a:tcPr>
                </a:tc>
                <a:tc>
                  <a:txBody>
                    <a:bodyPr/>
                    <a:lstStyle/>
                    <a:p>
                      <a:r>
                        <a:rPr sz="1500" b="0">
                          <a:solidFill>
                            <a:srgbClr val="0B2E59"/>
                          </a:solidFill>
                          <a:latin typeface="Calibri"/>
                          <a:ea typeface="Calibri"/>
                          <a:cs typeface="Calibri"/>
                        </a:rPr>
                        <a:t>0.9198</a:t>
                      </a:r>
                    </a:p>
                  </a:txBody>
                  <a:tcPr marL="91440" marR="91440" marT="45720" marB="45720">
                    <a:solidFill>
                      <a:srgbClr val="E8F0FA"/>
                    </a:solidFill>
                  </a:tcPr>
                </a:tc>
              </a:tr>
            </a:tbl>
          </a:graphicData>
        </a:graphic>
      </p:graphicFrame>
      <p:sp>
        <p:nvSpPr>
          <p:cNvPr id="6" name="">
            <a:extLst xmlns:a="http://schemas.openxmlformats.org/drawingml/2006/main">
              <a:ext uri="{FF2B5EF4-FFF2-40B4-BE49-F238E27FC236}">
                <a16:creationId xmlns:a16="http://schemas.microsoft.com/office/drawing/2014/main" id="{8BDBF123-72F1-4036-BF81-E7B5D24053A0}"/>
              </a:ext>
            </a:extLst>
          </p:cNvPr>
          <p:cNvSpPr>
            <a:spLocks xmlns:a="http://schemas.openxmlformats.org/drawingml/2006/main" noGrp="1"/>
          </p:cNvSpPr>
          <p:nvPr/>
        </p:nvSpPr>
        <p:spPr>
          <a:xfrm xmlns:a="http://schemas.openxmlformats.org/drawingml/2006/main">
            <a:off x="552450" y="1857375"/>
            <a:ext cx="3848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00" b="1">
                <a:solidFill>
                  <a:srgbClr val="1F5FAE"/>
                </a:solidFill>
                <a:latin typeface="Calibri"/>
                <a:ea typeface="Calibri"/>
                <a:cs typeface="Calibri"/>
              </a:defRPr>
            </a:pPr>
            <a:r>
              <a:rPr sz="1500" b="1">
                <a:solidFill>
                  <a:srgbClr val="1F5FAE"/>
                </a:solidFill>
                <a:latin typeface="Calibri"/>
                <a:ea typeface="Calibri"/>
                <a:cs typeface="Calibri"/>
              </a:rPr>
              <a:t>Test confusion matrix at 0.5</a:t>
            </a:r>
          </a:p>
        </p:txBody>
      </p:sp>
      <p:graphicFrame>
        <p:nvGraphicFramePr>
          <p:cNvPr id="20" name=""/>
          <p:cNvGraphicFramePr/>
          <p:nvPr/>
        </p:nvGraphicFramePr>
        <p:xfrm>
          <a:off xmlns:a="http://schemas.openxmlformats.org/drawingml/2006/main" x="552450" y="2238375"/>
          <a:ext xmlns:a="http://schemas.openxmlformats.org/drawingml/2006/main" cx="3914775" cy="1304925"/>
        </p:xfrm>
        <a:graphic xmlns:a="http://schemas.openxmlformats.org/drawingml/2006/main">
          <a:graphicData uri="http://schemas.openxmlformats.org/drawingml/2006/table">
            <a:tbl>
              <a:tblPr/>
              <a:tblGrid>
                <a:gridCol w="1685925"/>
                <a:gridCol w="1114425"/>
                <a:gridCol w="1114425"/>
              </a:tblGrid>
              <a:tr h="434975">
                <a:tc>
                  <a:txBody>
                    <a:bodyPr/>
                    <a:lstStyle/>
                    <a:p>
                      <a:r>
                        <a:rPr sz="1275" b="1">
                          <a:solidFill>
                            <a:srgbClr val="FFFFFF"/>
                          </a:solidFill>
                          <a:latin typeface="Calibri"/>
                          <a:ea typeface="Calibri"/>
                          <a:cs typeface="Calibri"/>
                        </a:rPr>
                        <a:t>Actual / Predicted</a:t>
                      </a:r>
                    </a:p>
                  </a:txBody>
                  <a:tcPr marL="91440" marR="91440" marT="45720" marB="45720">
                    <a:solidFill>
                      <a:srgbClr val="1F5FAE"/>
                    </a:solidFill>
                  </a:tcPr>
                </a:tc>
                <a:tc>
                  <a:txBody>
                    <a:bodyPr/>
                    <a:lstStyle/>
                    <a:p>
                      <a:r>
                        <a:rPr sz="1275" b="1">
                          <a:solidFill>
                            <a:srgbClr val="FFFFFF"/>
                          </a:solidFill>
                          <a:latin typeface="Calibri"/>
                          <a:ea typeface="Calibri"/>
                          <a:cs typeface="Calibri"/>
                        </a:rPr>
                        <a:t>Predicted 0</a:t>
                      </a:r>
                    </a:p>
                  </a:txBody>
                  <a:tcPr marL="91440" marR="91440" marT="45720" marB="45720">
                    <a:solidFill>
                      <a:srgbClr val="1F5FAE"/>
                    </a:solidFill>
                  </a:tcPr>
                </a:tc>
                <a:tc>
                  <a:txBody>
                    <a:bodyPr/>
                    <a:lstStyle/>
                    <a:p>
                      <a:r>
                        <a:rPr sz="1275" b="1">
                          <a:solidFill>
                            <a:srgbClr val="FFFFFF"/>
                          </a:solidFill>
                          <a:latin typeface="Calibri"/>
                          <a:ea typeface="Calibri"/>
                          <a:cs typeface="Calibri"/>
                        </a:rPr>
                        <a:t>Predicted 1</a:t>
                      </a:r>
                    </a:p>
                  </a:txBody>
                  <a:tcPr marL="91440" marR="91440" marT="45720" marB="45720">
                    <a:solidFill>
                      <a:srgbClr val="1F5FAE"/>
                    </a:solidFill>
                  </a:tcPr>
                </a:tc>
              </a:tr>
              <a:tr h="434975">
                <a:tc>
                  <a:txBody>
                    <a:bodyPr/>
                    <a:lstStyle/>
                    <a:p>
                      <a:r>
                        <a:rPr sz="1275" b="0">
                          <a:solidFill>
                            <a:srgbClr val="0B2E59"/>
                          </a:solidFill>
                          <a:latin typeface="Calibri"/>
                          <a:ea typeface="Calibri"/>
                          <a:cs typeface="Calibri"/>
                        </a:rPr>
                        <a:t>Actual 0</a:t>
                      </a:r>
                    </a:p>
                  </a:txBody>
                  <a:tcPr marL="91440" marR="91440" marT="45720" marB="45720">
                    <a:solidFill>
                      <a:srgbClr val="E8F0FA"/>
                    </a:solidFill>
                  </a:tcPr>
                </a:tc>
                <a:tc>
                  <a:txBody>
                    <a:bodyPr/>
                    <a:lstStyle/>
                    <a:p>
                      <a:r>
                        <a:rPr sz="1275" b="0">
                          <a:solidFill>
                            <a:srgbClr val="0B2E59"/>
                          </a:solidFill>
                          <a:latin typeface="Calibri"/>
                          <a:ea typeface="Calibri"/>
                          <a:cs typeface="Calibri"/>
                        </a:rPr>
                        <a:t>56,481 TN</a:t>
                      </a:r>
                    </a:p>
                  </a:txBody>
                  <a:tcPr marL="91440" marR="91440" marT="45720" marB="45720">
                    <a:solidFill>
                      <a:srgbClr val="E8F0FA"/>
                    </a:solidFill>
                  </a:tcPr>
                </a:tc>
                <a:tc>
                  <a:txBody>
                    <a:bodyPr/>
                    <a:lstStyle/>
                    <a:p>
                      <a:r>
                        <a:rPr sz="1275" b="0">
                          <a:solidFill>
                            <a:srgbClr val="0B2E59"/>
                          </a:solidFill>
                          <a:latin typeface="Calibri"/>
                          <a:ea typeface="Calibri"/>
                          <a:cs typeface="Calibri"/>
                        </a:rPr>
                        <a:t>57 FP</a:t>
                      </a:r>
                    </a:p>
                  </a:txBody>
                  <a:tcPr marL="91440" marR="91440" marT="45720" marB="45720">
                    <a:solidFill>
                      <a:srgbClr val="E8F0FA"/>
                    </a:solidFill>
                  </a:tcPr>
                </a:tc>
              </a:tr>
              <a:tr h="434975">
                <a:tc>
                  <a:txBody>
                    <a:bodyPr/>
                    <a:lstStyle/>
                    <a:p>
                      <a:r>
                        <a:rPr sz="1275" b="0">
                          <a:solidFill>
                            <a:srgbClr val="0B2E59"/>
                          </a:solidFill>
                          <a:latin typeface="Calibri"/>
                          <a:ea typeface="Calibri"/>
                          <a:cs typeface="Calibri"/>
                        </a:rPr>
                        <a:t>Actual 1</a:t>
                      </a:r>
                    </a:p>
                  </a:txBody>
                  <a:tcPr marL="91440" marR="91440" marT="45720" marB="45720">
                    <a:solidFill>
                      <a:srgbClr val="F3F5F7"/>
                    </a:solidFill>
                  </a:tcPr>
                </a:tc>
                <a:tc>
                  <a:txBody>
                    <a:bodyPr/>
                    <a:lstStyle/>
                    <a:p>
                      <a:r>
                        <a:rPr sz="1275" b="0">
                          <a:solidFill>
                            <a:srgbClr val="0B2E59"/>
                          </a:solidFill>
                          <a:latin typeface="Calibri"/>
                          <a:ea typeface="Calibri"/>
                          <a:cs typeface="Calibri"/>
                        </a:rPr>
                        <a:t>4,876 FN</a:t>
                      </a:r>
                    </a:p>
                  </a:txBody>
                  <a:tcPr marL="91440" marR="91440" marT="45720" marB="45720">
                    <a:solidFill>
                      <a:srgbClr val="F3F5F7"/>
                    </a:solidFill>
                  </a:tcPr>
                </a:tc>
                <a:tc>
                  <a:txBody>
                    <a:bodyPr/>
                    <a:lstStyle/>
                    <a:p>
                      <a:r>
                        <a:rPr sz="1275" b="0">
                          <a:solidFill>
                            <a:srgbClr val="0B2E59"/>
                          </a:solidFill>
                          <a:latin typeface="Calibri"/>
                          <a:ea typeface="Calibri"/>
                          <a:cs typeface="Calibri"/>
                        </a:rPr>
                        <a:t>89 TP</a:t>
                      </a:r>
                    </a:p>
                  </a:txBody>
                  <a:tcPr marL="91440" marR="91440" marT="45720" marB="45720">
                    <a:solidFill>
                      <a:srgbClr val="F3F5F7"/>
                    </a:solidFill>
                  </a:tcPr>
                </a:tc>
              </a:tr>
            </a:tbl>
          </a:graphicData>
        </a:graphic>
      </p:graphicFrame>
      <p:sp>
        <p:nvSpPr>
          <p:cNvPr id="8" name="">
            <a:extLst xmlns:a="http://schemas.openxmlformats.org/drawingml/2006/main">
              <a:ext uri="{FF2B5EF4-FFF2-40B4-BE49-F238E27FC236}">
                <a16:creationId xmlns:a16="http://schemas.microsoft.com/office/drawing/2014/main" id="{80815FEC-CF7A-4624-9969-C5FDD5430B87}"/>
              </a:ext>
            </a:extLst>
          </p:cNvPr>
          <p:cNvSpPr>
            <a:spLocks xmlns:a="http://schemas.openxmlformats.org/drawingml/2006/main" noGrp="1"/>
          </p:cNvSpPr>
          <p:nvPr/>
        </p:nvSpPr>
        <p:spPr>
          <a:xfrm xmlns:a="http://schemas.openxmlformats.org/drawingml/2006/main">
            <a:off x="552450" y="3629025"/>
            <a:ext cx="3914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0B2E59"/>
                </a:solidFill>
                <a:latin typeface="Calibri"/>
                <a:ea typeface="Calibri"/>
                <a:cs typeface="Calibri"/>
              </a:defRPr>
            </a:pPr>
            <a:r>
              <a:rPr sz="1200" b="0">
                <a:solidFill>
                  <a:srgbClr val="0B2E59"/>
                </a:solidFill>
                <a:latin typeface="Calibri"/>
                <a:ea typeface="Calibri"/>
                <a:cs typeface="Calibri"/>
              </a:rPr>
              <a:t>Precision 0.6096   Recall 0.0179   F1 0.0348</a:t>
            </a:r>
          </a:p>
        </p:txBody>
      </p:sp>
      <p:sp>
        <p:nvSpPr>
          <p:cNvPr id="9" name="">
            <a:extLst xmlns:a="http://schemas.openxmlformats.org/drawingml/2006/main">
              <a:ext uri="{FF2B5EF4-FFF2-40B4-BE49-F238E27FC236}">
                <a16:creationId xmlns:a16="http://schemas.microsoft.com/office/drawing/2014/main" id="{A348E497-AB5D-4708-B488-C7BA019930B3}"/>
              </a:ext>
            </a:extLst>
          </p:cNvPr>
          <p:cNvSpPr>
            <a:spLocks xmlns:a="http://schemas.openxmlformats.org/drawingml/2006/main" noGrp="1"/>
          </p:cNvSpPr>
          <p:nvPr/>
        </p:nvSpPr>
        <p:spPr>
          <a:xfrm xmlns:a="http://schemas.openxmlformats.org/drawingml/2006/main">
            <a:off x="4772025" y="1857375"/>
            <a:ext cx="3829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00" b="1">
                <a:solidFill>
                  <a:srgbClr val="1F5FAE"/>
                </a:solidFill>
                <a:latin typeface="Calibri"/>
                <a:ea typeface="Calibri"/>
                <a:cs typeface="Calibri"/>
              </a:defRPr>
            </a:pPr>
            <a:r>
              <a:rPr sz="1500" b="1">
                <a:solidFill>
                  <a:srgbClr val="1F5FAE"/>
                </a:solidFill>
                <a:latin typeface="Calibri"/>
                <a:ea typeface="Calibri"/>
                <a:cs typeface="Calibri"/>
              </a:rPr>
              <a:t>Test results at selected threshold</a:t>
            </a:r>
          </a:p>
        </p:txBody>
      </p:sp>
      <p:graphicFrame>
        <p:nvGraphicFramePr>
          <p:cNvPr id="23" name=""/>
          <p:cNvGraphicFramePr/>
          <p:nvPr/>
        </p:nvGraphicFramePr>
        <p:xfrm>
          <a:off xmlns:a="http://schemas.openxmlformats.org/drawingml/2006/main" x="4772025" y="2238375"/>
          <a:ext xmlns:a="http://schemas.openxmlformats.org/drawingml/2006/main" cx="3819525" cy="866775"/>
        </p:xfrm>
        <a:graphic xmlns:a="http://schemas.openxmlformats.org/drawingml/2006/main">
          <a:graphicData uri="http://schemas.openxmlformats.org/drawingml/2006/table">
            <a:tbl>
              <a:tblPr/>
              <a:tblGrid>
                <a:gridCol w="971550"/>
                <a:gridCol w="952500"/>
                <a:gridCol w="942975"/>
                <a:gridCol w="952500"/>
              </a:tblGrid>
              <a:tr h="433388">
                <a:tc>
                  <a:txBody>
                    <a:bodyPr/>
                    <a:lstStyle/>
                    <a:p>
                      <a:r>
                        <a:rPr sz="1275" b="1">
                          <a:solidFill>
                            <a:srgbClr val="FFFFFF"/>
                          </a:solidFill>
                          <a:latin typeface="Calibri"/>
                          <a:ea typeface="Calibri"/>
                          <a:cs typeface="Calibri"/>
                        </a:rPr>
                        <a:t>Threshold</a:t>
                      </a:r>
                    </a:p>
                  </a:txBody>
                  <a:tcPr marL="91440" marR="91440" marT="45720" marB="45720">
                    <a:solidFill>
                      <a:srgbClr val="1F5FAE"/>
                    </a:solidFill>
                  </a:tcPr>
                </a:tc>
                <a:tc>
                  <a:txBody>
                    <a:bodyPr/>
                    <a:lstStyle/>
                    <a:p>
                      <a:r>
                        <a:rPr sz="1275" b="1">
                          <a:solidFill>
                            <a:srgbClr val="FFFFFF"/>
                          </a:solidFill>
                          <a:latin typeface="Calibri"/>
                          <a:ea typeface="Calibri"/>
                          <a:cs typeface="Calibri"/>
                        </a:rPr>
                        <a:t>Precision</a:t>
                      </a:r>
                    </a:p>
                  </a:txBody>
                  <a:tcPr marL="91440" marR="91440" marT="45720" marB="45720">
                    <a:solidFill>
                      <a:srgbClr val="1F5FAE"/>
                    </a:solidFill>
                  </a:tcPr>
                </a:tc>
                <a:tc>
                  <a:txBody>
                    <a:bodyPr/>
                    <a:lstStyle/>
                    <a:p>
                      <a:r>
                        <a:rPr sz="1275" b="1">
                          <a:solidFill>
                            <a:srgbClr val="FFFFFF"/>
                          </a:solidFill>
                          <a:latin typeface="Calibri"/>
                          <a:ea typeface="Calibri"/>
                          <a:cs typeface="Calibri"/>
                        </a:rPr>
                        <a:t>Recall</a:t>
                      </a:r>
                    </a:p>
                  </a:txBody>
                  <a:tcPr marL="91440" marR="91440" marT="45720" marB="45720">
                    <a:solidFill>
                      <a:srgbClr val="1F5FAE"/>
                    </a:solidFill>
                  </a:tcPr>
                </a:tc>
                <a:tc>
                  <a:txBody>
                    <a:bodyPr/>
                    <a:lstStyle/>
                    <a:p>
                      <a:r>
                        <a:rPr sz="1275" b="1">
                          <a:solidFill>
                            <a:srgbClr val="FFFFFF"/>
                          </a:solidFill>
                          <a:latin typeface="Calibri"/>
                          <a:ea typeface="Calibri"/>
                          <a:cs typeface="Calibri"/>
                        </a:rPr>
                        <a:t>F1</a:t>
                      </a:r>
                    </a:p>
                  </a:txBody>
                  <a:tcPr marL="91440" marR="91440" marT="45720" marB="45720">
                    <a:solidFill>
                      <a:srgbClr val="1F5FAE"/>
                    </a:solidFill>
                  </a:tcPr>
                </a:tc>
              </a:tr>
              <a:tr h="433388">
                <a:tc>
                  <a:txBody>
                    <a:bodyPr/>
                    <a:lstStyle/>
                    <a:p>
                      <a:r>
                        <a:rPr sz="1275" b="0">
                          <a:solidFill>
                            <a:srgbClr val="0B2E59"/>
                          </a:solidFill>
                          <a:latin typeface="Calibri"/>
                          <a:ea typeface="Calibri"/>
                          <a:cs typeface="Calibri"/>
                        </a:rPr>
                        <a:t>≈ 0.1665</a:t>
                      </a:r>
                    </a:p>
                  </a:txBody>
                  <a:tcPr marL="91440" marR="91440" marT="45720" marB="45720">
                    <a:solidFill>
                      <a:srgbClr val="E8F0FA"/>
                    </a:solidFill>
                  </a:tcPr>
                </a:tc>
                <a:tc>
                  <a:txBody>
                    <a:bodyPr/>
                    <a:lstStyle/>
                    <a:p>
                      <a:r>
                        <a:rPr sz="1275" b="0">
                          <a:solidFill>
                            <a:srgbClr val="0B2E59"/>
                          </a:solidFill>
                          <a:latin typeface="Calibri"/>
                          <a:ea typeface="Calibri"/>
                          <a:cs typeface="Calibri"/>
                        </a:rPr>
                        <a:t>0.2615</a:t>
                      </a:r>
                    </a:p>
                  </a:txBody>
                  <a:tcPr marL="91440" marR="91440" marT="45720" marB="45720">
                    <a:solidFill>
                      <a:srgbClr val="E8F0FA"/>
                    </a:solidFill>
                  </a:tcPr>
                </a:tc>
                <a:tc>
                  <a:txBody>
                    <a:bodyPr/>
                    <a:lstStyle/>
                    <a:p>
                      <a:r>
                        <a:rPr sz="1275" b="0">
                          <a:solidFill>
                            <a:srgbClr val="0B2E59"/>
                          </a:solidFill>
                          <a:latin typeface="Calibri"/>
                          <a:ea typeface="Calibri"/>
                          <a:cs typeface="Calibri"/>
                        </a:rPr>
                        <a:t>0.3952</a:t>
                      </a:r>
                    </a:p>
                  </a:txBody>
                  <a:tcPr marL="91440" marR="91440" marT="45720" marB="45720">
                    <a:solidFill>
                      <a:srgbClr val="E8F0FA"/>
                    </a:solidFill>
                  </a:tcPr>
                </a:tc>
                <a:tc>
                  <a:txBody>
                    <a:bodyPr/>
                    <a:lstStyle/>
                    <a:p>
                      <a:r>
                        <a:rPr sz="1275" b="0">
                          <a:solidFill>
                            <a:srgbClr val="0B2E59"/>
                          </a:solidFill>
                          <a:latin typeface="Calibri"/>
                          <a:ea typeface="Calibri"/>
                          <a:cs typeface="Calibri"/>
                        </a:rPr>
                        <a:t>0.3147</a:t>
                      </a:r>
                    </a:p>
                  </a:txBody>
                  <a:tcPr marL="91440" marR="91440" marT="45720" marB="45720">
                    <a:solidFill>
                      <a:srgbClr val="E8F0FA"/>
                    </a:solidFill>
                  </a:tcPr>
                </a:tc>
              </a:tr>
            </a:tbl>
          </a:graphicData>
        </a:graphic>
      </p:graphicFrame>
      <p:sp>
        <p:nvSpPr>
          <p:cNvPr id="11" name="">
            <a:extLst xmlns:a="http://schemas.openxmlformats.org/drawingml/2006/main">
              <a:ext uri="{FF2B5EF4-FFF2-40B4-BE49-F238E27FC236}">
                <a16:creationId xmlns:a16="http://schemas.microsoft.com/office/drawing/2014/main" id="{DED4AA84-2978-4A87-A609-B9A20D5D53FC}"/>
              </a:ext>
            </a:extLst>
          </p:cNvPr>
          <p:cNvSpPr>
            <a:spLocks xmlns:a="http://schemas.openxmlformats.org/drawingml/2006/main" noGrp="1"/>
          </p:cNvSpPr>
          <p:nvPr/>
        </p:nvSpPr>
        <p:spPr>
          <a:xfrm xmlns:a="http://schemas.openxmlformats.org/drawingml/2006/main">
            <a:off x="4772025" y="3286125"/>
            <a:ext cx="3819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Selection reused validation rows already in calibration. Optimism is possible. Test data stayed outside fitting and selection.</a:t>
            </a:r>
          </a:p>
        </p:txBody>
      </p:sp>
      <p:sp>
        <p:nvSpPr>
          <p:cNvPr id="12" name="">
            <a:extLst xmlns:a="http://schemas.openxmlformats.org/drawingml/2006/main">
              <a:ext uri="{FF2B5EF4-FFF2-40B4-BE49-F238E27FC236}">
                <a16:creationId xmlns:a16="http://schemas.microsoft.com/office/drawing/2014/main" id="{5C80E311-AE07-419D-8C56-615392C235B0}"/>
              </a:ext>
            </a:extLst>
          </p:cNvPr>
          <p:cNvSpPr>
            <a:spLocks xmlns:a="http://schemas.openxmlformats.org/drawingml/2006/main" noGrp="1"/>
          </p:cNvSpPr>
          <p:nvPr/>
        </p:nvSpPr>
        <p:spPr>
          <a:xfrm xmlns:a="http://schemas.openxmlformats.org/drawingml/2006/main">
            <a:off x="552450" y="4152900"/>
            <a:ext cx="803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1">
                <a:solidFill>
                  <a:srgbClr val="1F5FAE"/>
                </a:solidFill>
                <a:latin typeface="Calibri"/>
                <a:ea typeface="Calibri"/>
                <a:cs typeface="Calibri"/>
              </a:defRPr>
            </a:pPr>
            <a:r>
              <a:rPr sz="1275" b="1">
                <a:solidFill>
                  <a:srgbClr val="1F5FAE"/>
                </a:solidFill>
                <a:latin typeface="Calibri"/>
                <a:ea typeface="Calibri"/>
                <a:cs typeface="Calibri"/>
              </a:rPr>
              <a:t>Brier: 0.1961 before calibration. All-negative accuracy ≈ 0.9193 at 8.07% positives.</a:t>
            </a:r>
          </a:p>
        </p:txBody>
      </p:sp>
      <p:sp>
        <p:nvSpPr>
          <p:cNvPr id="13" name="">
            <a:extLst xmlns:a="http://schemas.openxmlformats.org/drawingml/2006/main">
              <a:ext uri="{FF2B5EF4-FFF2-40B4-BE49-F238E27FC236}">
                <a16:creationId xmlns:a16="http://schemas.microsoft.com/office/drawing/2014/main" id="{E4D1BE76-A835-4BEB-8C5A-D16EDDCDCEF7}"/>
              </a:ext>
            </a:extLst>
          </p:cNvPr>
          <p:cNvSpPr>
            <a:spLocks xmlns:a="http://schemas.openxmlformats.org/drawingml/2006/main" noGrp="1"/>
          </p:cNvSpPr>
          <p:nvPr/>
        </p:nvSpPr>
        <p:spPr>
          <a:xfrm xmlns:a="http://schemas.openxmlformats.org/drawingml/2006/main">
            <a:off x="552450" y="4457700"/>
            <a:ext cx="803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5B6770"/>
                </a:solidFill>
                <a:latin typeface="Calibri"/>
                <a:ea typeface="Calibri"/>
                <a:cs typeface="Calibri"/>
              </a:defRPr>
            </a:pPr>
            <a:r>
              <a:rPr sz="1200" b="0">
                <a:solidFill>
                  <a:srgbClr val="5B6770"/>
                </a:solidFill>
                <a:latin typeface="Calibri"/>
                <a:ea typeface="Calibri"/>
                <a:cs typeface="Calibri"/>
              </a:rPr>
              <a:t>Analytical threshold is separate from the four served probability bands.</a:t>
            </a:r>
          </a:p>
        </p:txBody>
      </p:sp>
    </p:spTree>
    <p:extLst>
      <p:ext uri="{BB962C8B-B14F-4D97-AF65-F5344CB8AC3E}">
        <p14:creationId xmlns:p14="http://schemas.microsoft.com/office/powerpoint/2010/main" val="1861170314"/>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659b208c75474214">
            <a:lum/>
          </a:blip>
          <a:srcRect l="0" t="0" r="0" b="0"/>
          <a:stretch>
            <a:fillRect l="0" t="0" r="0" b="0"/>
          </a:stretch>
        </a:blip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CE2AF9-0556-4CE1-8515-AFD20CD74BDF}"/>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Application &amp; Prediction Output</a:t>
            </a:r>
          </a:p>
        </p:txBody>
      </p:sp>
      <p:sp>
        <p:nvSpPr>
          <p:cNvPr id="2" name="">
            <a:extLst xmlns:a="http://schemas.openxmlformats.org/drawingml/2006/main">
              <a:ext uri="{FF2B5EF4-FFF2-40B4-BE49-F238E27FC236}">
                <a16:creationId xmlns:a16="http://schemas.microsoft.com/office/drawing/2014/main" id="{1845FE58-2599-47F2-A247-A76C93B70AC8}"/>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4560B40B-C610-43AB-B4D2-E48A3A0AE2BD}"/>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4</a:t>
            </a:r>
          </a:p>
        </p:txBody>
      </p:sp>
      <p:sp>
        <p:nvSpPr>
          <p:cNvPr id="4" name="">
            <a:extLst xmlns:a="http://schemas.openxmlformats.org/drawingml/2006/main">
              <a:ext uri="{FF2B5EF4-FFF2-40B4-BE49-F238E27FC236}">
                <a16:creationId xmlns:a16="http://schemas.microsoft.com/office/drawing/2014/main" id="{E9BBCE6C-BD70-4F9C-B32D-9418B419D9AA}"/>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8</a:t>
            </a:r>
          </a:p>
        </p:txBody>
      </p:sp>
      <p:sp>
        <p:nvSpPr>
          <p:cNvPr id="5" name="">
            <a:extLst xmlns:a="http://schemas.openxmlformats.org/drawingml/2006/main">
              <a:ext uri="{FF2B5EF4-FFF2-40B4-BE49-F238E27FC236}">
                <a16:creationId xmlns:a16="http://schemas.microsoft.com/office/drawing/2014/main" id="{482E86A5-62E7-429F-9C44-9582B4054F87}"/>
              </a:ext>
            </a:extLst>
          </p:cNvPr>
          <p:cNvSpPr>
            <a:spLocks xmlns:a="http://schemas.openxmlformats.org/drawingml/2006/main" noGrp="1"/>
          </p:cNvSpPr>
          <p:nvPr/>
        </p:nvSpPr>
        <p:spPr>
          <a:xfrm xmlns:a="http://schemas.openxmlformats.org/drawingml/2006/main">
            <a:off x="552450" y="1009650"/>
            <a:ext cx="4619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1">
                <a:solidFill>
                  <a:srgbClr val="1F5FAE"/>
                </a:solidFill>
                <a:latin typeface="Calibri"/>
                <a:ea typeface="Calibri"/>
                <a:cs typeface="Calibri"/>
              </a:defRPr>
            </a:pPr>
            <a:r>
              <a:rPr sz="1425" b="1">
                <a:solidFill>
                  <a:srgbClr val="1F5FAE"/>
                </a:solidFill>
                <a:latin typeface="Calibri"/>
                <a:ea typeface="Calibri"/>
                <a:cs typeface="Calibri"/>
              </a:rPr>
              <a:t>Authentic local app overview</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76c51e6d76c4b38"/>
          <a:stretch xmlns:a="http://schemas.openxmlformats.org/drawingml/2006/main"/>
        </p:blipFill>
        <p:spPr>
          <a:xfrm xmlns:a="http://schemas.openxmlformats.org/drawingml/2006/main">
            <a:off x="552450" y="1381125"/>
            <a:ext cx="4572000" cy="2571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FD49F1D-03BD-461B-8D93-8A0EC798BC03}"/>
              </a:ext>
            </a:extLst>
          </p:cNvPr>
          <p:cNvSpPr>
            <a:spLocks xmlns:a="http://schemas.openxmlformats.org/drawingml/2006/main" noGrp="1"/>
          </p:cNvSpPr>
          <p:nvPr/>
        </p:nvSpPr>
        <p:spPr>
          <a:xfrm xmlns:a="http://schemas.openxmlformats.org/drawingml/2006/main">
            <a:off x="5391150" y="1028700"/>
            <a:ext cx="320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00" b="1">
                <a:solidFill>
                  <a:srgbClr val="1F5FAE"/>
                </a:solidFill>
                <a:latin typeface="Calibri"/>
                <a:ea typeface="Calibri"/>
                <a:cs typeface="Calibri"/>
              </a:defRPr>
            </a:pPr>
            <a:r>
              <a:rPr sz="1500" b="1">
                <a:solidFill>
                  <a:srgbClr val="1F5FAE"/>
                </a:solidFill>
                <a:latin typeface="Calibri"/>
                <a:ea typeface="Calibri"/>
                <a:cs typeface="Calibri"/>
              </a:rPr>
              <a:t>13 pages in four groups</a:t>
            </a:r>
          </a:p>
        </p:txBody>
      </p:sp>
      <p:sp>
        <p:nvSpPr>
          <p:cNvPr id="8" name="">
            <a:extLst xmlns:a="http://schemas.openxmlformats.org/drawingml/2006/main">
              <a:ext uri="{FF2B5EF4-FFF2-40B4-BE49-F238E27FC236}">
                <a16:creationId xmlns:a16="http://schemas.microsoft.com/office/drawing/2014/main" id="{069C4275-9517-47A8-A426-D02087531341}"/>
              </a:ext>
            </a:extLst>
          </p:cNvPr>
          <p:cNvSpPr>
            <a:spLocks xmlns:a="http://schemas.openxmlformats.org/drawingml/2006/main" noGrp="1"/>
          </p:cNvSpPr>
          <p:nvPr/>
        </p:nvSpPr>
        <p:spPr>
          <a:xfrm xmlns:a="http://schemas.openxmlformats.org/drawingml/2006/main">
            <a:off x="5391150" y="14097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Overview (2)</a:t>
            </a:r>
          </a:p>
        </p:txBody>
      </p:sp>
      <p:sp>
        <p:nvSpPr>
          <p:cNvPr id="9" name="">
            <a:extLst xmlns:a="http://schemas.openxmlformats.org/drawingml/2006/main">
              <a:ext uri="{FF2B5EF4-FFF2-40B4-BE49-F238E27FC236}">
                <a16:creationId xmlns:a16="http://schemas.microsoft.com/office/drawing/2014/main" id="{1A591600-F399-4136-8770-8EA475006B79}"/>
              </a:ext>
            </a:extLst>
          </p:cNvPr>
          <p:cNvSpPr>
            <a:spLocks xmlns:a="http://schemas.openxmlformats.org/drawingml/2006/main" noGrp="1"/>
          </p:cNvSpPr>
          <p:nvPr/>
        </p:nvSpPr>
        <p:spPr>
          <a:xfrm xmlns:a="http://schemas.openxmlformats.org/drawingml/2006/main">
            <a:off x="5391150" y="169545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Assessment (3)</a:t>
            </a:r>
          </a:p>
        </p:txBody>
      </p:sp>
      <p:sp>
        <p:nvSpPr>
          <p:cNvPr id="10" name="">
            <a:extLst xmlns:a="http://schemas.openxmlformats.org/drawingml/2006/main">
              <a:ext uri="{FF2B5EF4-FFF2-40B4-BE49-F238E27FC236}">
                <a16:creationId xmlns:a16="http://schemas.microsoft.com/office/drawing/2014/main" id="{818A4FFE-7AE1-4B96-A07E-F418EA08D23D}"/>
              </a:ext>
            </a:extLst>
          </p:cNvPr>
          <p:cNvSpPr>
            <a:spLocks xmlns:a="http://schemas.openxmlformats.org/drawingml/2006/main" noGrp="1"/>
          </p:cNvSpPr>
          <p:nvPr/>
        </p:nvSpPr>
        <p:spPr>
          <a:xfrm xmlns:a="http://schemas.openxmlformats.org/drawingml/2006/main">
            <a:off x="5391150" y="19812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Model &amp; Methodology (5)</a:t>
            </a:r>
          </a:p>
        </p:txBody>
      </p:sp>
      <p:sp>
        <p:nvSpPr>
          <p:cNvPr id="11" name="">
            <a:extLst xmlns:a="http://schemas.openxmlformats.org/drawingml/2006/main">
              <a:ext uri="{FF2B5EF4-FFF2-40B4-BE49-F238E27FC236}">
                <a16:creationId xmlns:a16="http://schemas.microsoft.com/office/drawing/2014/main" id="{E91C9384-EAFE-4CC0-863C-EE6C16E23281}"/>
              </a:ext>
            </a:extLst>
          </p:cNvPr>
          <p:cNvSpPr>
            <a:spLocks xmlns:a="http://schemas.openxmlformats.org/drawingml/2006/main" noGrp="1"/>
          </p:cNvSpPr>
          <p:nvPr/>
        </p:nvSpPr>
        <p:spPr>
          <a:xfrm xmlns:a="http://schemas.openxmlformats.org/drawingml/2006/main">
            <a:off x="5391150" y="226695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Governance (3)</a:t>
            </a:r>
          </a:p>
        </p:txBody>
      </p:sp>
      <p:sp>
        <p:nvSpPr>
          <p:cNvPr id="12" name="">
            <a:extLst xmlns:a="http://schemas.openxmlformats.org/drawingml/2006/main">
              <a:ext uri="{FF2B5EF4-FFF2-40B4-BE49-F238E27FC236}">
                <a16:creationId xmlns:a16="http://schemas.microsoft.com/office/drawing/2014/main" id="{C1B8CE2E-84DA-4BB4-9A06-4C7BC3F74C0B}"/>
              </a:ext>
            </a:extLst>
          </p:cNvPr>
          <p:cNvSpPr>
            <a:spLocks xmlns:a="http://schemas.openxmlformats.org/drawingml/2006/main" noGrp="1"/>
          </p:cNvSpPr>
          <p:nvPr/>
        </p:nvSpPr>
        <p:spPr>
          <a:xfrm xmlns:a="http://schemas.openxmlformats.org/drawingml/2006/main">
            <a:off x="5391150" y="268605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00" b="1">
                <a:solidFill>
                  <a:srgbClr val="1F5FAE"/>
                </a:solidFill>
                <a:latin typeface="Calibri"/>
                <a:ea typeface="Calibri"/>
                <a:cs typeface="Calibri"/>
              </a:defRPr>
            </a:pPr>
            <a:r>
              <a:rPr sz="1500" b="1">
                <a:solidFill>
                  <a:srgbClr val="1F5FAE"/>
                </a:solidFill>
                <a:latin typeface="Calibri"/>
                <a:ea typeface="Calibri"/>
                <a:cs typeface="Calibri"/>
              </a:rPr>
              <a:t>Response fields</a:t>
            </a:r>
          </a:p>
        </p:txBody>
      </p:sp>
      <p:sp>
        <p:nvSpPr>
          <p:cNvPr id="13" name="">
            <a:extLst xmlns:a="http://schemas.openxmlformats.org/drawingml/2006/main">
              <a:ext uri="{FF2B5EF4-FFF2-40B4-BE49-F238E27FC236}">
                <a16:creationId xmlns:a16="http://schemas.microsoft.com/office/drawing/2014/main" id="{E426F33E-C45E-47D7-9DD4-C88AEB379BAD}"/>
              </a:ext>
            </a:extLst>
          </p:cNvPr>
          <p:cNvSpPr>
            <a:spLocks xmlns:a="http://schemas.openxmlformats.org/drawingml/2006/main" noGrp="1"/>
          </p:cNvSpPr>
          <p:nvPr/>
        </p:nvSpPr>
        <p:spPr>
          <a:xfrm xmlns:a="http://schemas.openxmlformats.org/drawingml/2006/main">
            <a:off x="5391150" y="2990850"/>
            <a:ext cx="320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default_probability, risk_score,</a:t>
            </a:r>
          </a:p>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risk_band, model_version,</a:t>
            </a:r>
          </a:p>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explanation_available, explanation,</a:t>
            </a:r>
          </a:p>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limitations, disclaimer</a:t>
            </a:r>
          </a:p>
        </p:txBody>
      </p:sp>
      <p:sp>
        <p:nvSpPr>
          <p:cNvPr id="14" name="">
            <a:extLst xmlns:a="http://schemas.openxmlformats.org/drawingml/2006/main">
              <a:ext uri="{FF2B5EF4-FFF2-40B4-BE49-F238E27FC236}">
                <a16:creationId xmlns:a16="http://schemas.microsoft.com/office/drawing/2014/main" id="{4FBFFC08-271F-49A2-B862-92DAB895A7CB}"/>
              </a:ext>
            </a:extLst>
          </p:cNvPr>
          <p:cNvSpPr>
            <a:spLocks xmlns:a="http://schemas.openxmlformats.org/drawingml/2006/main" noGrp="1"/>
          </p:cNvSpPr>
          <p:nvPr/>
        </p:nvSpPr>
        <p:spPr>
          <a:xfrm xmlns:a="http://schemas.openxmlformats.org/drawingml/2006/main">
            <a:off x="552450" y="4076700"/>
            <a:ext cx="803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1">
                <a:solidFill>
                  <a:srgbClr val="0B2E59"/>
                </a:solidFill>
                <a:latin typeface="Calibri"/>
                <a:ea typeface="Calibri"/>
                <a:cs typeface="Calibri"/>
              </a:defRPr>
            </a:pPr>
            <a:r>
              <a:rPr sz="1275" b="1">
                <a:solidFill>
                  <a:srgbClr val="0B2E59"/>
                </a:solidFill>
                <a:latin typeface="Calibri"/>
                <a:ea typeface="Calibri"/>
                <a:cs typeface="Calibri"/>
              </a:rPr>
              <a:t>Validated form → ModelService → saved estimator → probability, score, band → session result</a:t>
            </a:r>
          </a:p>
        </p:txBody>
      </p:sp>
      <p:sp>
        <p:nvSpPr>
          <p:cNvPr id="15" name="">
            <a:extLst xmlns:a="http://schemas.openxmlformats.org/drawingml/2006/main">
              <a:ext uri="{FF2B5EF4-FFF2-40B4-BE49-F238E27FC236}">
                <a16:creationId xmlns:a16="http://schemas.microsoft.com/office/drawing/2014/main" id="{70E78896-A71A-4642-97A9-0CC74982072C}"/>
              </a:ext>
            </a:extLst>
          </p:cNvPr>
          <p:cNvSpPr>
            <a:spLocks xmlns:a="http://schemas.openxmlformats.org/drawingml/2006/main" noGrp="1"/>
          </p:cNvSpPr>
          <p:nvPr/>
        </p:nvSpPr>
        <p:spPr>
          <a:xfrm xmlns:a="http://schemas.openxmlformats.org/drawingml/2006/main">
            <a:off x="552450" y="4429125"/>
            <a:ext cx="803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00" b="0">
                <a:solidFill>
                  <a:srgbClr val="5B6770"/>
                </a:solidFill>
                <a:latin typeface="Calibri"/>
                <a:ea typeface="Calibri"/>
                <a:cs typeface="Calibri"/>
              </a:defRPr>
            </a:pPr>
            <a:r>
              <a:rPr sz="1200" b="0">
                <a:solidFill>
                  <a:srgbClr val="5B6770"/>
                </a:solidFill>
                <a:latin typeface="Calibri"/>
                <a:ea typeface="Calibri"/>
                <a:cs typeface="Calibri"/>
              </a:rPr>
              <a:t>Illustration only: p = 0.18 gives score 18, Moderate. Persistence is a no-op stub.</a:t>
            </a:r>
          </a:p>
        </p:txBody>
      </p:sp>
    </p:spTree>
    <p:extLst>
      <p:ext uri="{BB962C8B-B14F-4D97-AF65-F5344CB8AC3E}">
        <p14:creationId xmlns:p14="http://schemas.microsoft.com/office/powerpoint/2010/main" val="121073464"/>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5f7f0351893a475a">
            <a:lum/>
          </a:blip>
          <a:srcRect l="0" t="0" r="0" b="0"/>
          <a:stretch>
            <a:fillRect l="0" t="0" r="0" b="0"/>
          </a:stretch>
        </a:blip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67DB2C-80E5-483E-927C-B4B996FA90F3}"/>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Explainability &amp; Fairness Diagnostics</a:t>
            </a:r>
          </a:p>
        </p:txBody>
      </p:sp>
      <p:sp>
        <p:nvSpPr>
          <p:cNvPr id="2" name="">
            <a:extLst xmlns:a="http://schemas.openxmlformats.org/drawingml/2006/main">
              <a:ext uri="{FF2B5EF4-FFF2-40B4-BE49-F238E27FC236}">
                <a16:creationId xmlns:a16="http://schemas.microsoft.com/office/drawing/2014/main" id="{9B4315A5-C705-47E4-95A5-F980794AA6A7}"/>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5A1841FD-B673-4B26-B4A8-387C4473433D}"/>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4</a:t>
            </a:r>
          </a:p>
        </p:txBody>
      </p:sp>
      <p:sp>
        <p:nvSpPr>
          <p:cNvPr id="4" name="">
            <a:extLst xmlns:a="http://schemas.openxmlformats.org/drawingml/2006/main">
              <a:ext uri="{FF2B5EF4-FFF2-40B4-BE49-F238E27FC236}">
                <a16:creationId xmlns:a16="http://schemas.microsoft.com/office/drawing/2014/main" id="{9D2542AB-7BAD-4A60-9D3F-E1FCFAC36CA9}"/>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9</a:t>
            </a:r>
          </a:p>
        </p:txBody>
      </p:sp>
      <p:sp>
        <p:nvSpPr>
          <p:cNvPr id="5" name="">
            <a:extLst xmlns:a="http://schemas.openxmlformats.org/drawingml/2006/main">
              <a:ext uri="{FF2B5EF4-FFF2-40B4-BE49-F238E27FC236}">
                <a16:creationId xmlns:a16="http://schemas.microsoft.com/office/drawing/2014/main" id="{7AB4DBCC-B907-494A-8B40-DA333745FC7E}"/>
              </a:ext>
            </a:extLst>
          </p:cNvPr>
          <p:cNvSpPr>
            <a:spLocks xmlns:a="http://schemas.openxmlformats.org/drawingml/2006/main" noGrp="1"/>
          </p:cNvSpPr>
          <p:nvPr/>
        </p:nvSpPr>
        <p:spPr>
          <a:xfrm xmlns:a="http://schemas.openxmlformats.org/drawingml/2006/main">
            <a:off x="552450" y="1038225"/>
            <a:ext cx="38004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1">
                <a:solidFill>
                  <a:srgbClr val="1F5FAE"/>
                </a:solidFill>
                <a:latin typeface="Calibri"/>
                <a:ea typeface="Calibri"/>
                <a:cs typeface="Calibri"/>
              </a:defRPr>
            </a:pPr>
            <a:r>
              <a:rPr sz="1425" b="1">
                <a:solidFill>
                  <a:srgbClr val="1F5FAE"/>
                </a:solidFill>
                <a:latin typeface="Calibri"/>
                <a:ea typeface="Calibri"/>
                <a:cs typeface="Calibri"/>
              </a:rPr>
              <a:t>Native tree importance</a:t>
            </a:r>
          </a:p>
        </p:txBody>
      </p:sp>
      <p:sp>
        <p:nvSpPr>
          <p:cNvPr id="6" name="">
            <a:extLst xmlns:a="http://schemas.openxmlformats.org/drawingml/2006/main">
              <a:ext uri="{FF2B5EF4-FFF2-40B4-BE49-F238E27FC236}">
                <a16:creationId xmlns:a16="http://schemas.microsoft.com/office/drawing/2014/main" id="{3CF7E174-5528-45D7-B355-CF0E9E2BE9BC}"/>
              </a:ext>
            </a:extLst>
          </p:cNvPr>
          <p:cNvSpPr>
            <a:spLocks xmlns:a="http://schemas.openxmlformats.org/drawingml/2006/main" noGrp="1"/>
          </p:cNvSpPr>
          <p:nvPr/>
        </p:nvSpPr>
        <p:spPr>
          <a:xfrm xmlns:a="http://schemas.openxmlformats.org/drawingml/2006/main">
            <a:off x="552450" y="1314450"/>
            <a:ext cx="38004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125" b="0">
                <a:solidFill>
                  <a:srgbClr val="5B6770"/>
                </a:solidFill>
                <a:latin typeface="Calibri"/>
                <a:ea typeface="Calibri"/>
                <a:cs typeface="Calibri"/>
              </a:defRPr>
            </a:pPr>
            <a:r>
              <a:rPr sz="1125" b="0">
                <a:solidFill>
                  <a:srgbClr val="5B6770"/>
                </a:solidFill>
                <a:latin typeface="Calibri"/>
                <a:ea typeface="Calibri"/>
                <a:cs typeface="Calibri"/>
              </a:rPr>
              <a:t>Mean across 3 calibration folds</a:t>
            </a:r>
          </a:p>
        </p:txBody>
      </p:sp>
      <p:graphicFrame>
        <p:nvGraphicFramePr>
          <p:cNvPr id="20" name=""/>
          <p:cNvGraphicFramePr/>
          <p:nvPr/>
        </p:nvGraphicFramePr>
        <p:xfrm>
          <a:off xmlns:a="http://schemas.openxmlformats.org/drawingml/2006/main" x="552450" y="1609725"/>
          <a:ext xmlns:a="http://schemas.openxmlformats.org/drawingml/2006/main" cx="3838575" cy="1076325"/>
        </p:xfrm>
        <a:graphic xmlns:a="http://schemas.openxmlformats.org/drawingml/2006/main">
          <a:graphicData uri="http://schemas.openxmlformats.org/drawingml/2006/table">
            <a:tbl>
              <a:tblPr/>
              <a:tblGrid>
                <a:gridCol w="2847975"/>
                <a:gridCol w="990600"/>
              </a:tblGrid>
              <a:tr h="269081">
                <a:tc>
                  <a:txBody>
                    <a:bodyPr/>
                    <a:lstStyle/>
                    <a:p>
                      <a:r>
                        <a:rPr sz="1125" b="1">
                          <a:solidFill>
                            <a:srgbClr val="FFFFFF"/>
                          </a:solidFill>
                          <a:latin typeface="Calibri"/>
                          <a:ea typeface="Calibri"/>
                          <a:cs typeface="Calibri"/>
                        </a:rPr>
                        <a:t>Top native features</a:t>
                      </a:r>
                    </a:p>
                  </a:txBody>
                  <a:tcPr marL="91440" marR="91440" marT="45720" marB="45720">
                    <a:solidFill>
                      <a:srgbClr val="1F5FAE"/>
                    </a:solidFill>
                  </a:tcPr>
                </a:tc>
                <a:tc>
                  <a:txBody>
                    <a:bodyPr/>
                    <a:lstStyle/>
                    <a:p>
                      <a:r>
                        <a:rPr sz="1125" b="1">
                          <a:solidFill>
                            <a:srgbClr val="FFFFFF"/>
                          </a:solidFill>
                          <a:latin typeface="Calibri"/>
                          <a:ea typeface="Calibri"/>
                          <a:cs typeface="Calibri"/>
                        </a:rPr>
                        <a:t>Importance</a:t>
                      </a:r>
                    </a:p>
                  </a:txBody>
                  <a:tcPr marL="91440" marR="91440" marT="45720" marB="45720">
                    <a:solidFill>
                      <a:srgbClr val="1F5FAE"/>
                    </a:solidFill>
                  </a:tcPr>
                </a:tc>
              </a:tr>
              <a:tr h="269081">
                <a:tc>
                  <a:txBody>
                    <a:bodyPr/>
                    <a:lstStyle/>
                    <a:p>
                      <a:r>
                        <a:rPr sz="1125" b="0">
                          <a:solidFill>
                            <a:srgbClr val="0B2E59"/>
                          </a:solidFill>
                          <a:latin typeface="Calibri"/>
                          <a:ea typeface="Calibri"/>
                          <a:cs typeface="Calibri"/>
                        </a:rPr>
                        <a:t>EXT_SOURCE_MEAN</a:t>
                      </a:r>
                    </a:p>
                  </a:txBody>
                  <a:tcPr marL="91440" marR="91440" marT="45720" marB="45720">
                    <a:solidFill>
                      <a:srgbClr val="E8F0FA"/>
                    </a:solidFill>
                  </a:tcPr>
                </a:tc>
                <a:tc>
                  <a:txBody>
                    <a:bodyPr/>
                    <a:lstStyle/>
                    <a:p>
                      <a:r>
                        <a:rPr sz="1125" b="0">
                          <a:solidFill>
                            <a:srgbClr val="0B2E59"/>
                          </a:solidFill>
                          <a:latin typeface="Calibri"/>
                          <a:ea typeface="Calibri"/>
                          <a:cs typeface="Calibri"/>
                        </a:rPr>
                        <a:t>0.1667</a:t>
                      </a:r>
                    </a:p>
                  </a:txBody>
                  <a:tcPr marL="91440" marR="91440" marT="45720" marB="45720">
                    <a:solidFill>
                      <a:srgbClr val="E8F0FA"/>
                    </a:solidFill>
                  </a:tcPr>
                </a:tc>
              </a:tr>
              <a:tr h="269081">
                <a:tc>
                  <a:txBody>
                    <a:bodyPr/>
                    <a:lstStyle/>
                    <a:p>
                      <a:r>
                        <a:rPr sz="1125" b="0">
                          <a:solidFill>
                            <a:srgbClr val="0B2E59"/>
                          </a:solidFill>
                          <a:latin typeface="Calibri"/>
                          <a:ea typeface="Calibri"/>
                          <a:cs typeface="Calibri"/>
                        </a:rPr>
                        <a:t>EXT_SOURCE_3</a:t>
                      </a:r>
                    </a:p>
                  </a:txBody>
                  <a:tcPr marL="91440" marR="91440" marT="45720" marB="45720">
                    <a:solidFill>
                      <a:srgbClr val="F3F5F7"/>
                    </a:solidFill>
                  </a:tcPr>
                </a:tc>
                <a:tc>
                  <a:txBody>
                    <a:bodyPr/>
                    <a:lstStyle/>
                    <a:p>
                      <a:r>
                        <a:rPr sz="1125" b="0">
                          <a:solidFill>
                            <a:srgbClr val="0B2E59"/>
                          </a:solidFill>
                          <a:latin typeface="Calibri"/>
                          <a:ea typeface="Calibri"/>
                          <a:cs typeface="Calibri"/>
                        </a:rPr>
                        <a:t>0.0409</a:t>
                      </a:r>
                    </a:p>
                  </a:txBody>
                  <a:tcPr marL="91440" marR="91440" marT="45720" marB="45720">
                    <a:solidFill>
                      <a:srgbClr val="F3F5F7"/>
                    </a:solidFill>
                  </a:tcPr>
                </a:tc>
              </a:tr>
              <a:tr h="269081">
                <a:tc>
                  <a:txBody>
                    <a:bodyPr/>
                    <a:lstStyle/>
                    <a:p>
                      <a:r>
                        <a:rPr sz="1125" b="0">
                          <a:solidFill>
                            <a:srgbClr val="0B2E59"/>
                          </a:solidFill>
                          <a:latin typeface="Calibri"/>
                          <a:ea typeface="Calibri"/>
                          <a:cs typeface="Calibri"/>
                        </a:rPr>
                        <a:t>Higher education (one-hot)</a:t>
                      </a:r>
                    </a:p>
                  </a:txBody>
                  <a:tcPr marL="91440" marR="91440" marT="45720" marB="45720">
                    <a:solidFill>
                      <a:srgbClr val="E8F0FA"/>
                    </a:solidFill>
                  </a:tcPr>
                </a:tc>
                <a:tc>
                  <a:txBody>
                    <a:bodyPr/>
                    <a:lstStyle/>
                    <a:p>
                      <a:r>
                        <a:rPr sz="1125" b="0">
                          <a:solidFill>
                            <a:srgbClr val="0B2E59"/>
                          </a:solidFill>
                          <a:latin typeface="Calibri"/>
                          <a:ea typeface="Calibri"/>
                          <a:cs typeface="Calibri"/>
                        </a:rPr>
                        <a:t>0.0352</a:t>
                      </a:r>
                    </a:p>
                  </a:txBody>
                  <a:tcPr marL="91440" marR="91440" marT="45720" marB="45720">
                    <a:solidFill>
                      <a:srgbClr val="E8F0FA"/>
                    </a:solidFill>
                  </a:tcPr>
                </a:tc>
              </a:tr>
            </a:tbl>
          </a:graphicData>
        </a:graphic>
      </p:graphicFrame>
      <p:sp>
        <p:nvSpPr>
          <p:cNvPr id="8" name="">
            <a:extLst xmlns:a="http://schemas.openxmlformats.org/drawingml/2006/main">
              <a:ext uri="{FF2B5EF4-FFF2-40B4-BE49-F238E27FC236}">
                <a16:creationId xmlns:a16="http://schemas.microsoft.com/office/drawing/2014/main" id="{15D5F6EB-2E62-432C-B6C2-7BE8A7703D30}"/>
              </a:ext>
            </a:extLst>
          </p:cNvPr>
          <p:cNvSpPr>
            <a:spLocks xmlns:a="http://schemas.openxmlformats.org/drawingml/2006/main" noGrp="1"/>
          </p:cNvSpPr>
          <p:nvPr/>
        </p:nvSpPr>
        <p:spPr>
          <a:xfrm xmlns:a="http://schemas.openxmlformats.org/drawingml/2006/main">
            <a:off x="4762500" y="1038225"/>
            <a:ext cx="3829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425" b="1">
                <a:solidFill>
                  <a:srgbClr val="1F5FAE"/>
                </a:solidFill>
                <a:latin typeface="Calibri"/>
                <a:ea typeface="Calibri"/>
                <a:cs typeface="Calibri"/>
              </a:defRPr>
            </a:pPr>
            <a:r>
              <a:rPr sz="1425" b="1">
                <a:solidFill>
                  <a:srgbClr val="1F5FAE"/>
                </a:solidFill>
                <a:latin typeface="Calibri"/>
                <a:ea typeface="Calibri"/>
                <a:cs typeface="Calibri"/>
              </a:rPr>
              <a:t>Permutation importance</a:t>
            </a:r>
          </a:p>
        </p:txBody>
      </p:sp>
      <p:sp>
        <p:nvSpPr>
          <p:cNvPr id="9" name="">
            <a:extLst xmlns:a="http://schemas.openxmlformats.org/drawingml/2006/main">
              <a:ext uri="{FF2B5EF4-FFF2-40B4-BE49-F238E27FC236}">
                <a16:creationId xmlns:a16="http://schemas.microsoft.com/office/drawing/2014/main" id="{E096354A-CF4C-49A6-AA31-735A8DF03B5A}"/>
              </a:ext>
            </a:extLst>
          </p:cNvPr>
          <p:cNvSpPr>
            <a:spLocks xmlns:a="http://schemas.openxmlformats.org/drawingml/2006/main" noGrp="1"/>
          </p:cNvSpPr>
          <p:nvPr/>
        </p:nvSpPr>
        <p:spPr>
          <a:xfrm xmlns:a="http://schemas.openxmlformats.org/drawingml/2006/main">
            <a:off x="4762500" y="1314450"/>
            <a:ext cx="3829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125" b="0">
                <a:solidFill>
                  <a:srgbClr val="5B6770"/>
                </a:solidFill>
                <a:latin typeface="Calibri"/>
                <a:ea typeface="Calibri"/>
                <a:cs typeface="Calibri"/>
              </a:defRPr>
            </a:pPr>
            <a:r>
              <a:rPr sz="1125" b="0">
                <a:solidFill>
                  <a:srgbClr val="5B6770"/>
                </a:solidFill>
                <a:latin typeface="Calibri"/>
                <a:ea typeface="Calibri"/>
                <a:cs typeface="Calibri"/>
              </a:rPr>
              <a:t>ROC-AUC drop • 5,000 test rows • 5 repeats</a:t>
            </a:r>
          </a:p>
        </p:txBody>
      </p:sp>
      <p:graphicFrame>
        <p:nvGraphicFramePr>
          <p:cNvPr id="23" name=""/>
          <p:cNvGraphicFramePr/>
          <p:nvPr/>
        </p:nvGraphicFramePr>
        <p:xfrm>
          <a:off xmlns:a="http://schemas.openxmlformats.org/drawingml/2006/main" x="4762500" y="1609725"/>
          <a:ext xmlns:a="http://schemas.openxmlformats.org/drawingml/2006/main" cx="3829050" cy="1076325"/>
        </p:xfrm>
        <a:graphic xmlns:a="http://schemas.openxmlformats.org/drawingml/2006/main">
          <a:graphicData uri="http://schemas.openxmlformats.org/drawingml/2006/table">
            <a:tbl>
              <a:tblPr/>
              <a:tblGrid>
                <a:gridCol w="2838450"/>
                <a:gridCol w="990600"/>
              </a:tblGrid>
              <a:tr h="269081">
                <a:tc>
                  <a:txBody>
                    <a:bodyPr/>
                    <a:lstStyle/>
                    <a:p>
                      <a:r>
                        <a:rPr sz="1125" b="1">
                          <a:solidFill>
                            <a:srgbClr val="FFFFFF"/>
                          </a:solidFill>
                          <a:latin typeface="Calibri"/>
                          <a:ea typeface="Calibri"/>
                          <a:cs typeface="Calibri"/>
                        </a:rPr>
                        <a:t>Top original inputs</a:t>
                      </a:r>
                    </a:p>
                  </a:txBody>
                  <a:tcPr marL="91440" marR="91440" marT="45720" marB="45720">
                    <a:solidFill>
                      <a:srgbClr val="1F5FAE"/>
                    </a:solidFill>
                  </a:tcPr>
                </a:tc>
                <a:tc>
                  <a:txBody>
                    <a:bodyPr/>
                    <a:lstStyle/>
                    <a:p>
                      <a:r>
                        <a:rPr sz="1125" b="1">
                          <a:solidFill>
                            <a:srgbClr val="FFFFFF"/>
                          </a:solidFill>
                          <a:latin typeface="Calibri"/>
                          <a:ea typeface="Calibri"/>
                          <a:cs typeface="Calibri"/>
                        </a:rPr>
                        <a:t>AUC drop</a:t>
                      </a:r>
                    </a:p>
                  </a:txBody>
                  <a:tcPr marL="91440" marR="91440" marT="45720" marB="45720">
                    <a:solidFill>
                      <a:srgbClr val="1F5FAE"/>
                    </a:solidFill>
                  </a:tcPr>
                </a:tc>
              </a:tr>
              <a:tr h="269081">
                <a:tc>
                  <a:txBody>
                    <a:bodyPr/>
                    <a:lstStyle/>
                    <a:p>
                      <a:r>
                        <a:rPr sz="1125" b="0">
                          <a:solidFill>
                            <a:srgbClr val="0B2E59"/>
                          </a:solidFill>
                          <a:latin typeface="Calibri"/>
                          <a:ea typeface="Calibri"/>
                          <a:cs typeface="Calibri"/>
                        </a:rPr>
                        <a:t>EXT_SOURCE_3</a:t>
                      </a:r>
                    </a:p>
                  </a:txBody>
                  <a:tcPr marL="91440" marR="91440" marT="45720" marB="45720">
                    <a:solidFill>
                      <a:srgbClr val="E8F0FA"/>
                    </a:solidFill>
                  </a:tcPr>
                </a:tc>
                <a:tc>
                  <a:txBody>
                    <a:bodyPr/>
                    <a:lstStyle/>
                    <a:p>
                      <a:r>
                        <a:rPr sz="1125" b="0">
                          <a:solidFill>
                            <a:srgbClr val="0B2E59"/>
                          </a:solidFill>
                          <a:latin typeface="Calibri"/>
                          <a:ea typeface="Calibri"/>
                          <a:cs typeface="Calibri"/>
                        </a:rPr>
                        <a:t>0.0662</a:t>
                      </a:r>
                    </a:p>
                  </a:txBody>
                  <a:tcPr marL="91440" marR="91440" marT="45720" marB="45720">
                    <a:solidFill>
                      <a:srgbClr val="E8F0FA"/>
                    </a:solidFill>
                  </a:tcPr>
                </a:tc>
              </a:tr>
              <a:tr h="269081">
                <a:tc>
                  <a:txBody>
                    <a:bodyPr/>
                    <a:lstStyle/>
                    <a:p>
                      <a:r>
                        <a:rPr sz="1125" b="0">
                          <a:solidFill>
                            <a:srgbClr val="0B2E59"/>
                          </a:solidFill>
                          <a:latin typeface="Calibri"/>
                          <a:ea typeface="Calibri"/>
                          <a:cs typeface="Calibri"/>
                        </a:rPr>
                        <a:t>EXT_SOURCE_2</a:t>
                      </a:r>
                    </a:p>
                  </a:txBody>
                  <a:tcPr marL="91440" marR="91440" marT="45720" marB="45720">
                    <a:solidFill>
                      <a:srgbClr val="F3F5F7"/>
                    </a:solidFill>
                  </a:tcPr>
                </a:tc>
                <a:tc>
                  <a:txBody>
                    <a:bodyPr/>
                    <a:lstStyle/>
                    <a:p>
                      <a:r>
                        <a:rPr sz="1125" b="0">
                          <a:solidFill>
                            <a:srgbClr val="0B2E59"/>
                          </a:solidFill>
                          <a:latin typeface="Calibri"/>
                          <a:ea typeface="Calibri"/>
                          <a:cs typeface="Calibri"/>
                        </a:rPr>
                        <a:t>0.0562</a:t>
                      </a:r>
                    </a:p>
                  </a:txBody>
                  <a:tcPr marL="91440" marR="91440" marT="45720" marB="45720">
                    <a:solidFill>
                      <a:srgbClr val="F3F5F7"/>
                    </a:solidFill>
                  </a:tcPr>
                </a:tc>
              </a:tr>
              <a:tr h="269081">
                <a:tc>
                  <a:txBody>
                    <a:bodyPr/>
                    <a:lstStyle/>
                    <a:p>
                      <a:r>
                        <a:rPr sz="1125" b="0">
                          <a:solidFill>
                            <a:srgbClr val="0B2E59"/>
                          </a:solidFill>
                          <a:latin typeface="Calibri"/>
                          <a:ea typeface="Calibri"/>
                          <a:cs typeface="Calibri"/>
                        </a:rPr>
                        <a:t>AMT_CREDIT</a:t>
                      </a:r>
                    </a:p>
                  </a:txBody>
                  <a:tcPr marL="91440" marR="91440" marT="45720" marB="45720">
                    <a:solidFill>
                      <a:srgbClr val="E8F0FA"/>
                    </a:solidFill>
                  </a:tcPr>
                </a:tc>
                <a:tc>
                  <a:txBody>
                    <a:bodyPr/>
                    <a:lstStyle/>
                    <a:p>
                      <a:r>
                        <a:rPr sz="1125" b="0">
                          <a:solidFill>
                            <a:srgbClr val="0B2E59"/>
                          </a:solidFill>
                          <a:latin typeface="Calibri"/>
                          <a:ea typeface="Calibri"/>
                          <a:cs typeface="Calibri"/>
                        </a:rPr>
                        <a:t>0.0252</a:t>
                      </a:r>
                    </a:p>
                  </a:txBody>
                  <a:tcPr marL="91440" marR="91440" marT="45720" marB="45720">
                    <a:solidFill>
                      <a:srgbClr val="E8F0FA"/>
                    </a:solidFill>
                  </a:tcPr>
                </a:tc>
              </a:tr>
            </a:tbl>
          </a:graphicData>
        </a:graphic>
      </p:graphicFrame>
      <p:sp>
        <p:nvSpPr>
          <p:cNvPr id="11" name="">
            <a:extLst xmlns:a="http://schemas.openxmlformats.org/drawingml/2006/main">
              <a:ext uri="{FF2B5EF4-FFF2-40B4-BE49-F238E27FC236}">
                <a16:creationId xmlns:a16="http://schemas.microsoft.com/office/drawing/2014/main" id="{000B5B03-B6AC-4F56-A56B-2A4961C026AF}"/>
              </a:ext>
            </a:extLst>
          </p:cNvPr>
          <p:cNvSpPr>
            <a:spLocks xmlns:a="http://schemas.openxmlformats.org/drawingml/2006/main" noGrp="1"/>
          </p:cNvSpPr>
          <p:nvPr/>
        </p:nvSpPr>
        <p:spPr>
          <a:xfrm xmlns:a="http://schemas.openxmlformats.org/drawingml/2006/main">
            <a:off x="552450" y="2800350"/>
            <a:ext cx="8039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Local: optional SHAP on fold 1’s base model. Approximate for the calibrated ensemble.</a:t>
            </a:r>
          </a:p>
          <a:p xmlns:a="http://schemas.openxmlformats.org/drawingml/2006/main">
            <a:pPr algn="l">
              <a:defRPr sz="1275" b="0">
                <a:solidFill>
                  <a:srgbClr val="0B2E59"/>
                </a:solidFill>
                <a:latin typeface="Calibri"/>
                <a:ea typeface="Calibri"/>
                <a:cs typeface="Calibri"/>
              </a:defRPr>
            </a:pPr>
            <a:r>
              <a:rPr sz="1275" b="0">
                <a:solidFill>
                  <a:srgbClr val="0B2E59"/>
                </a:solidFill>
                <a:latin typeface="Calibri"/>
                <a:ea typeface="Calibri"/>
                <a:cs typeface="Calibri"/>
              </a:rPr>
              <a:t>Tree fallback is unsigned global importance. All importance reflects association.</a:t>
            </a:r>
          </a:p>
        </p:txBody>
      </p:sp>
      <p:graphicFrame>
        <p:nvGraphicFramePr>
          <p:cNvPr id="25" name=""/>
          <p:cNvGraphicFramePr/>
          <p:nvPr/>
        </p:nvGraphicFramePr>
        <p:xfrm>
          <a:off xmlns:a="http://schemas.openxmlformats.org/drawingml/2006/main" x="552450" y="3333750"/>
          <a:ext xmlns:a="http://schemas.openxmlformats.org/drawingml/2006/main" cx="8039100" cy="857250"/>
        </p:xfrm>
        <a:graphic xmlns:a="http://schemas.openxmlformats.org/drawingml/2006/main">
          <a:graphicData uri="http://schemas.openxmlformats.org/drawingml/2006/table">
            <a:tbl>
              <a:tblPr/>
              <a:tblGrid>
                <a:gridCol w="2190750"/>
                <a:gridCol w="1714500"/>
                <a:gridCol w="1905000"/>
                <a:gridCol w="2228850"/>
              </a:tblGrid>
              <a:tr h="285750">
                <a:tc>
                  <a:txBody>
                    <a:bodyPr/>
                    <a:lstStyle/>
                    <a:p>
                      <a:r>
                        <a:rPr sz="1050" b="1">
                          <a:solidFill>
                            <a:srgbClr val="FFFFFF"/>
                          </a:solidFill>
                          <a:latin typeface="Calibri"/>
                          <a:ea typeface="Calibri"/>
                          <a:cs typeface="Calibri"/>
                        </a:rPr>
                        <a:t>Subgroup</a:t>
                      </a:r>
                    </a:p>
                  </a:txBody>
                  <a:tcPr marL="91440" marR="91440" marT="45720" marB="45720">
                    <a:solidFill>
                      <a:srgbClr val="1F5FAE"/>
                    </a:solidFill>
                  </a:tcPr>
                </a:tc>
                <a:tc>
                  <a:txBody>
                    <a:bodyPr/>
                    <a:lstStyle/>
                    <a:p>
                      <a:r>
                        <a:rPr sz="1050" b="1">
                          <a:solidFill>
                            <a:srgbClr val="FFFFFF"/>
                          </a:solidFill>
                          <a:latin typeface="Calibri"/>
                          <a:ea typeface="Calibri"/>
                          <a:cs typeface="Calibri"/>
                        </a:rPr>
                        <a:t>n</a:t>
                      </a:r>
                    </a:p>
                  </a:txBody>
                  <a:tcPr marL="91440" marR="91440" marT="45720" marB="45720">
                    <a:solidFill>
                      <a:srgbClr val="1F5FAE"/>
                    </a:solidFill>
                  </a:tcPr>
                </a:tc>
                <a:tc>
                  <a:txBody>
                    <a:bodyPr/>
                    <a:lstStyle/>
                    <a:p>
                      <a:r>
                        <a:rPr sz="1050" b="1">
                          <a:solidFill>
                            <a:srgbClr val="FFFFFF"/>
                          </a:solidFill>
                          <a:latin typeface="Calibri"/>
                          <a:ea typeface="Calibri"/>
                          <a:cs typeface="Calibri"/>
                        </a:rPr>
                        <a:t>Flagged rate</a:t>
                      </a:r>
                    </a:p>
                  </a:txBody>
                  <a:tcPr marL="91440" marR="91440" marT="45720" marB="45720">
                    <a:solidFill>
                      <a:srgbClr val="1F5FAE"/>
                    </a:solidFill>
                  </a:tcPr>
                </a:tc>
                <a:tc>
                  <a:txBody>
                    <a:bodyPr/>
                    <a:lstStyle/>
                    <a:p>
                      <a:r>
                        <a:rPr sz="1050" b="1">
                          <a:solidFill>
                            <a:srgbClr val="FFFFFF"/>
                          </a:solidFill>
                          <a:latin typeface="Calibri"/>
                          <a:ea typeface="Calibri"/>
                          <a:cs typeface="Calibri"/>
                        </a:rPr>
                        <a:t>False-negative rate</a:t>
                      </a:r>
                    </a:p>
                  </a:txBody>
                  <a:tcPr marL="91440" marR="91440" marT="45720" marB="45720">
                    <a:solidFill>
                      <a:srgbClr val="1F5FAE"/>
                    </a:solidFill>
                  </a:tcPr>
                </a:tc>
              </a:tr>
              <a:tr h="285750">
                <a:tc>
                  <a:txBody>
                    <a:bodyPr/>
                    <a:lstStyle/>
                    <a:p>
                      <a:r>
                        <a:rPr sz="1050" b="0">
                          <a:solidFill>
                            <a:srgbClr val="0B2E59"/>
                          </a:solidFill>
                          <a:latin typeface="Calibri"/>
                          <a:ea typeface="Calibri"/>
                          <a:cs typeface="Calibri"/>
                        </a:rPr>
                        <a:t>Gender F / M</a:t>
                      </a:r>
                    </a:p>
                  </a:txBody>
                  <a:tcPr marL="91440" marR="91440" marT="45720" marB="45720">
                    <a:solidFill>
                      <a:srgbClr val="E8F0FA"/>
                    </a:solidFill>
                  </a:tcPr>
                </a:tc>
                <a:tc>
                  <a:txBody>
                    <a:bodyPr/>
                    <a:lstStyle/>
                    <a:p>
                      <a:r>
                        <a:rPr sz="1050" b="0">
                          <a:solidFill>
                            <a:srgbClr val="0B2E59"/>
                          </a:solidFill>
                          <a:latin typeface="Calibri"/>
                          <a:ea typeface="Calibri"/>
                          <a:cs typeface="Calibri"/>
                        </a:rPr>
                        <a:t>40,561 / 20,940</a:t>
                      </a:r>
                    </a:p>
                  </a:txBody>
                  <a:tcPr marL="91440" marR="91440" marT="45720" marB="45720">
                    <a:solidFill>
                      <a:srgbClr val="E8F0FA"/>
                    </a:solidFill>
                  </a:tcPr>
                </a:tc>
                <a:tc>
                  <a:txBody>
                    <a:bodyPr/>
                    <a:lstStyle/>
                    <a:p>
                      <a:r>
                        <a:rPr sz="1050" b="0">
                          <a:solidFill>
                            <a:srgbClr val="0B2E59"/>
                          </a:solidFill>
                          <a:latin typeface="Calibri"/>
                          <a:ea typeface="Calibri"/>
                          <a:cs typeface="Calibri"/>
                        </a:rPr>
                        <a:t>9.36% / 17.71%</a:t>
                      </a:r>
                    </a:p>
                  </a:txBody>
                  <a:tcPr marL="91440" marR="91440" marT="45720" marB="45720">
                    <a:solidFill>
                      <a:srgbClr val="E8F0FA"/>
                    </a:solidFill>
                  </a:tcPr>
                </a:tc>
                <a:tc>
                  <a:txBody>
                    <a:bodyPr/>
                    <a:lstStyle/>
                    <a:p>
                      <a:r>
                        <a:rPr sz="1050" b="0">
                          <a:solidFill>
                            <a:srgbClr val="0B2E59"/>
                          </a:solidFill>
                          <a:latin typeface="Calibri"/>
                          <a:ea typeface="Calibri"/>
                          <a:cs typeface="Calibri"/>
                        </a:rPr>
                        <a:t>67.03% / 51.76%</a:t>
                      </a:r>
                    </a:p>
                  </a:txBody>
                  <a:tcPr marL="91440" marR="91440" marT="45720" marB="45720">
                    <a:solidFill>
                      <a:srgbClr val="E8F0FA"/>
                    </a:solidFill>
                  </a:tcPr>
                </a:tc>
              </a:tr>
              <a:tr h="285750">
                <a:tc>
                  <a:txBody>
                    <a:bodyPr/>
                    <a:lstStyle/>
                    <a:p>
                      <a:r>
                        <a:rPr sz="1050" b="0">
                          <a:solidFill>
                            <a:srgbClr val="0B2E59"/>
                          </a:solidFill>
                          <a:latin typeface="Calibri"/>
                          <a:ea typeface="Calibri"/>
                          <a:cs typeface="Calibri"/>
                        </a:rPr>
                        <a:t>Age &lt;30 / 60+</a:t>
                      </a:r>
                    </a:p>
                  </a:txBody>
                  <a:tcPr marL="91440" marR="91440" marT="45720" marB="45720">
                    <a:solidFill>
                      <a:srgbClr val="F3F5F7"/>
                    </a:solidFill>
                  </a:tcPr>
                </a:tc>
                <a:tc>
                  <a:txBody>
                    <a:bodyPr/>
                    <a:lstStyle/>
                    <a:p>
                      <a:r>
                        <a:rPr sz="1050" b="0">
                          <a:solidFill>
                            <a:srgbClr val="0B2E59"/>
                          </a:solidFill>
                          <a:latin typeface="Calibri"/>
                          <a:ea typeface="Calibri"/>
                          <a:cs typeface="Calibri"/>
                        </a:rPr>
                        <a:t>8,905 / 7,191</a:t>
                      </a:r>
                    </a:p>
                  </a:txBody>
                  <a:tcPr marL="91440" marR="91440" marT="45720" marB="45720">
                    <a:solidFill>
                      <a:srgbClr val="F3F5F7"/>
                    </a:solidFill>
                  </a:tcPr>
                </a:tc>
                <a:tc>
                  <a:txBody>
                    <a:bodyPr/>
                    <a:lstStyle/>
                    <a:p>
                      <a:r>
                        <a:rPr sz="1050" b="0">
                          <a:solidFill>
                            <a:srgbClr val="0B2E59"/>
                          </a:solidFill>
                          <a:latin typeface="Calibri"/>
                          <a:ea typeface="Calibri"/>
                          <a:cs typeface="Calibri"/>
                        </a:rPr>
                        <a:t>24.26% / 2.63%</a:t>
                      </a:r>
                    </a:p>
                  </a:txBody>
                  <a:tcPr marL="91440" marR="91440" marT="45720" marB="45720">
                    <a:solidFill>
                      <a:srgbClr val="F3F5F7"/>
                    </a:solidFill>
                  </a:tcPr>
                </a:tc>
                <a:tc>
                  <a:txBody>
                    <a:bodyPr/>
                    <a:lstStyle/>
                    <a:p>
                      <a:r>
                        <a:rPr sz="1050" b="0">
                          <a:solidFill>
                            <a:srgbClr val="0B2E59"/>
                          </a:solidFill>
                          <a:latin typeface="Calibri"/>
                          <a:ea typeface="Calibri"/>
                          <a:cs typeface="Calibri"/>
                        </a:rPr>
                        <a:t>46.42% / 87.11%</a:t>
                      </a:r>
                    </a:p>
                  </a:txBody>
                  <a:tcPr marL="91440" marR="91440" marT="45720" marB="45720">
                    <a:solidFill>
                      <a:srgbClr val="F3F5F7"/>
                    </a:solidFill>
                  </a:tcPr>
                </a:tc>
              </a:tr>
            </a:tbl>
          </a:graphicData>
        </a:graphic>
      </p:graphicFrame>
      <p:sp>
        <p:nvSpPr>
          <p:cNvPr id="13" name="">
            <a:extLst xmlns:a="http://schemas.openxmlformats.org/drawingml/2006/main">
              <a:ext uri="{FF2B5EF4-FFF2-40B4-BE49-F238E27FC236}">
                <a16:creationId xmlns:a16="http://schemas.microsoft.com/office/drawing/2014/main" id="{113C06CD-9335-46D5-B9AC-EEAB47492B08}"/>
              </a:ext>
            </a:extLst>
          </p:cNvPr>
          <p:cNvSpPr>
            <a:spLocks xmlns:a="http://schemas.openxmlformats.org/drawingml/2006/main" noGrp="1"/>
          </p:cNvSpPr>
          <p:nvPr/>
        </p:nvSpPr>
        <p:spPr>
          <a:xfrm xmlns:a="http://schemas.openxmlformats.org/drawingml/2006/main">
            <a:off x="552450" y="4295775"/>
            <a:ext cx="8039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050" b="1">
                <a:solidFill>
                  <a:srgbClr val="0B2E59"/>
                </a:solidFill>
                <a:latin typeface="Calibri"/>
                <a:ea typeface="Calibri"/>
                <a:cs typeface="Calibri"/>
              </a:defRPr>
            </a:pPr>
            <a:r>
              <a:rPr sz="1050" b="1">
                <a:solidFill>
                  <a:srgbClr val="0B2E59"/>
                </a:solidFill>
                <a:latin typeface="Calibri"/>
                <a:ea typeface="Calibri"/>
                <a:cs typeface="Calibri"/>
              </a:rPr>
              <a:t>At p ≥ 0.1665: selection rate means flagged, not approved. XNA n=2: low support.</a:t>
            </a:r>
          </a:p>
          <a:p xmlns:a="http://schemas.openxmlformats.org/drawingml/2006/main">
            <a:pPr algn="l">
              <a:defRPr sz="1050" b="1">
                <a:solidFill>
                  <a:srgbClr val="0B2E59"/>
                </a:solidFill>
                <a:latin typeface="Calibri"/>
                <a:ea typeface="Calibri"/>
                <a:cs typeface="Calibri"/>
              </a:defRPr>
            </a:pPr>
            <a:r>
              <a:rPr sz="1050" b="1">
                <a:solidFill>
                  <a:srgbClr val="0B2E59"/>
                </a:solidFill>
                <a:latin typeface="Calibri"/>
                <a:ea typeface="Calibri"/>
                <a:cs typeface="Calibri"/>
              </a:rPr>
              <a:t>Limited subgroup diagnostics only; no formal audit, mitigation or certification.</a:t>
            </a:r>
          </a:p>
        </p:txBody>
      </p:sp>
    </p:spTree>
    <p:extLst>
      <p:ext uri="{BB962C8B-B14F-4D97-AF65-F5344CB8AC3E}">
        <p14:creationId xmlns:p14="http://schemas.microsoft.com/office/powerpoint/2010/main" val="949467810"/>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7b3cdcd318814aa2">
            <a:lum/>
          </a:blip>
          <a:srcRect l="0" t="0" r="0" b="0"/>
          <a:stretch>
            <a:fillRect l="0" t="0" r="0" b="0"/>
          </a:stretch>
        </a:blip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644C05-2E9A-4485-94B3-E8A4046B92D8}"/>
              </a:ext>
            </a:extLst>
          </p:cNvPr>
          <p:cNvSpPr>
            <a:spLocks xmlns:a="http://schemas.openxmlformats.org/drawingml/2006/main" noGrp="1"/>
          </p:cNvSpPr>
          <p:nvPr/>
        </p:nvSpPr>
        <p:spPr>
          <a:xfrm xmlns:a="http://schemas.openxmlformats.org/drawingml/2006/main">
            <a:off x="548640" y="247650"/>
            <a:ext cx="8001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2325" b="1">
                <a:solidFill>
                  <a:srgbClr val="0B2E59"/>
                </a:solidFill>
                <a:latin typeface="Calibri"/>
                <a:ea typeface="Calibri"/>
                <a:cs typeface="Calibri"/>
              </a:defRPr>
            </a:pPr>
            <a:r>
              <a:rPr sz="2325" b="1">
                <a:solidFill>
                  <a:srgbClr val="0B2E59"/>
                </a:solidFill>
                <a:latin typeface="Calibri"/>
                <a:ea typeface="Calibri"/>
                <a:cs typeface="Calibri"/>
              </a:rPr>
              <a:t>Conclusion, Limitations &amp; Future Work</a:t>
            </a:r>
          </a:p>
        </p:txBody>
      </p:sp>
      <p:sp>
        <p:nvSpPr>
          <p:cNvPr id="2" name="">
            <a:extLst xmlns:a="http://schemas.openxmlformats.org/drawingml/2006/main">
              <a:ext uri="{FF2B5EF4-FFF2-40B4-BE49-F238E27FC236}">
                <a16:creationId xmlns:a16="http://schemas.microsoft.com/office/drawing/2014/main" id="{1E8F2D00-5CEF-41A1-B5E7-76A484AB9CD4}"/>
              </a:ext>
            </a:extLst>
          </p:cNvPr>
          <p:cNvSpPr>
            <a:spLocks xmlns:a="http://schemas.openxmlformats.org/drawingml/2006/main" noGrp="1"/>
          </p:cNvSpPr>
          <p:nvPr/>
        </p:nvSpPr>
        <p:spPr>
          <a:xfrm xmlns:a="http://schemas.openxmlformats.org/drawingml/2006/main">
            <a:off x="548640" y="838200"/>
            <a:ext cx="1095375" cy="0"/>
          </a:xfrm>
          <a:prstGeom xmlns:a="http://schemas.openxmlformats.org/drawingml/2006/main" prst="line">
            <a:avLst/>
          </a:prstGeom>
          <a:ln xmlns:a="http://schemas.openxmlformats.org/drawingml/2006/main" w="38100">
            <a:solidFill>
              <a:srgbClr val="F07F2D"/>
            </a:solidFill>
          </a:ln>
        </p:spPr>
      </p:sp>
      <p:sp>
        <p:nvSpPr>
          <p:cNvPr id="3" name="">
            <a:extLst xmlns:a="http://schemas.openxmlformats.org/drawingml/2006/main">
              <a:ext uri="{FF2B5EF4-FFF2-40B4-BE49-F238E27FC236}">
                <a16:creationId xmlns:a16="http://schemas.microsoft.com/office/drawing/2014/main" id="{5887BC33-416B-4F7D-B5F0-228F1DBEBD7D}"/>
              </a:ext>
            </a:extLst>
          </p:cNvPr>
          <p:cNvSpPr>
            <a:spLocks xmlns:a="http://schemas.openxmlformats.org/drawingml/2006/main" noGrp="1"/>
          </p:cNvSpPr>
          <p:nvPr/>
        </p:nvSpPr>
        <p:spPr>
          <a:xfrm xmlns:a="http://schemas.openxmlformats.org/drawingml/2006/main">
            <a:off x="548640" y="468630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825" b="0">
                <a:solidFill>
                  <a:srgbClr val="5B6770"/>
                </a:solidFill>
                <a:latin typeface="Calibri"/>
                <a:ea typeface="Calibri"/>
                <a:cs typeface="Calibri"/>
              </a:defRPr>
            </a:pPr>
            <a:r>
              <a:rPr sz="825" b="0">
                <a:solidFill>
                  <a:srgbClr val="5B6770"/>
                </a:solidFill>
                <a:latin typeface="Calibri"/>
                <a:ea typeface="Calibri"/>
                <a:cs typeface="Calibri"/>
              </a:rPr>
              <a:t>Intelligent Loan Risk Assessment System  |  Member 4</a:t>
            </a:r>
          </a:p>
        </p:txBody>
      </p:sp>
      <p:sp>
        <p:nvSpPr>
          <p:cNvPr id="4" name="">
            <a:extLst xmlns:a="http://schemas.openxmlformats.org/drawingml/2006/main">
              <a:ext uri="{FF2B5EF4-FFF2-40B4-BE49-F238E27FC236}">
                <a16:creationId xmlns:a16="http://schemas.microsoft.com/office/drawing/2014/main" id="{667C1D7E-799E-40C7-8737-4041F70C30CB}"/>
              </a:ext>
            </a:extLst>
          </p:cNvPr>
          <p:cNvSpPr>
            <a:spLocks xmlns:a="http://schemas.openxmlformats.org/drawingml/2006/main" noGrp="1"/>
          </p:cNvSpPr>
          <p:nvPr/>
        </p:nvSpPr>
        <p:spPr>
          <a:xfrm xmlns:a="http://schemas.openxmlformats.org/drawingml/2006/main">
            <a:off x="8382000" y="4686300"/>
            <a:ext cx="228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r">
              <a:defRPr sz="825" b="0">
                <a:solidFill>
                  <a:srgbClr val="5B6770"/>
                </a:solidFill>
                <a:latin typeface="Calibri"/>
                <a:ea typeface="Calibri"/>
                <a:cs typeface="Calibri"/>
              </a:defRPr>
            </a:pPr>
            <a:r>
              <a:rPr sz="825" b="0">
                <a:solidFill>
                  <a:srgbClr val="5B6770"/>
                </a:solidFill>
                <a:latin typeface="Calibri"/>
                <a:ea typeface="Calibri"/>
                <a:cs typeface="Calibri"/>
              </a:rPr>
              <a:t>10</a:t>
            </a:r>
          </a:p>
        </p:txBody>
      </p:sp>
      <p:sp>
        <p:nvSpPr>
          <p:cNvPr id="5" name="">
            <a:extLst xmlns:a="http://schemas.openxmlformats.org/drawingml/2006/main">
              <a:ext uri="{FF2B5EF4-FFF2-40B4-BE49-F238E27FC236}">
                <a16:creationId xmlns:a16="http://schemas.microsoft.com/office/drawing/2014/main" id="{93C4024D-746E-43B7-9D6A-3CA4FE980CC4}"/>
              </a:ext>
            </a:extLst>
          </p:cNvPr>
          <p:cNvSpPr>
            <a:spLocks xmlns:a="http://schemas.openxmlformats.org/drawingml/2006/main" noGrp="1"/>
          </p:cNvSpPr>
          <p:nvPr/>
        </p:nvSpPr>
        <p:spPr>
          <a:xfrm xmlns:a="http://schemas.openxmlformats.org/drawingml/2006/main">
            <a:off x="552450" y="103822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75" b="1">
                <a:solidFill>
                  <a:srgbClr val="1F5FAE"/>
                </a:solidFill>
                <a:latin typeface="Calibri"/>
                <a:ea typeface="Calibri"/>
                <a:cs typeface="Calibri"/>
              </a:defRPr>
            </a:pPr>
            <a:r>
              <a:rPr sz="1575" b="1">
                <a:solidFill>
                  <a:srgbClr val="1F5FAE"/>
                </a:solidFill>
                <a:latin typeface="Calibri"/>
                <a:ea typeface="Calibri"/>
                <a:cs typeface="Calibri"/>
              </a:rPr>
              <a:t>Delivered</a:t>
            </a:r>
          </a:p>
        </p:txBody>
      </p:sp>
      <p:sp>
        <p:nvSpPr>
          <p:cNvPr id="6" name="">
            <a:extLst xmlns:a="http://schemas.openxmlformats.org/drawingml/2006/main">
              <a:ext uri="{FF2B5EF4-FFF2-40B4-BE49-F238E27FC236}">
                <a16:creationId xmlns:a16="http://schemas.microsoft.com/office/drawing/2014/main" id="{0F88C0EB-90F5-4B00-8912-CB0CBE1D2542}"/>
              </a:ext>
            </a:extLst>
          </p:cNvPr>
          <p:cNvSpPr>
            <a:spLocks xmlns:a="http://schemas.openxmlformats.org/drawingml/2006/main" noGrp="1"/>
          </p:cNvSpPr>
          <p:nvPr/>
        </p:nvSpPr>
        <p:spPr>
          <a:xfrm xmlns:a="http://schemas.openxmlformats.org/drawingml/2006/main">
            <a:off x="552450" y="1438275"/>
            <a:ext cx="24765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t">
            <a:noAutofit/>
          </a:bodyPr>
          <a:lstStyle xmlns:a="http://schemas.openxmlformats.org/drawingml/2006/main"/>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Shared data and feature contract</a:t>
            </a:r>
          </a:p>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Calibrated saved estimator</a:t>
            </a:r>
          </a:p>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Direct Streamlit serving</a:t>
            </a:r>
          </a:p>
          <a:p xmlns:a="http://schemas.openxmlformats.org/drawingml/2006/main">
            <a:pPr algn="l">
              <a:defRPr sz="1425" b="0">
                <a:solidFill>
                  <a:srgbClr val="0B2E59"/>
                </a:solidFill>
                <a:latin typeface="Calibri"/>
                <a:ea typeface="Calibri"/>
                <a:cs typeface="Calibri"/>
              </a:defRPr>
            </a:pPr>
            <a:r>
              <a:rPr sz="1425" b="0">
                <a:solidFill>
                  <a:srgbClr val="0B2E59"/>
                </a:solidFill>
                <a:latin typeface="Calibri"/>
                <a:ea typeface="Calibri"/>
                <a:cs typeface="Calibri"/>
              </a:rPr>
              <a:t>Performance and diagnostic views</a:t>
            </a:r>
          </a:p>
        </p:txBody>
      </p:sp>
      <p:sp>
        <p:nvSpPr>
          <p:cNvPr id="7" name="">
            <a:extLst xmlns:a="http://schemas.openxmlformats.org/drawingml/2006/main">
              <a:ext uri="{FF2B5EF4-FFF2-40B4-BE49-F238E27FC236}">
                <a16:creationId xmlns:a16="http://schemas.microsoft.com/office/drawing/2014/main" id="{FC9640E0-0099-4E33-8232-6963A9FC4E65}"/>
              </a:ext>
            </a:extLst>
          </p:cNvPr>
          <p:cNvSpPr>
            <a:spLocks xmlns:a="http://schemas.openxmlformats.org/drawingml/2006/main" noGrp="1"/>
          </p:cNvSpPr>
          <p:nvPr/>
        </p:nvSpPr>
        <p:spPr>
          <a:xfrm xmlns:a="http://schemas.openxmlformats.org/drawingml/2006/main">
            <a:off x="3343275" y="10382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75" b="1">
                <a:solidFill>
                  <a:srgbClr val="1F5FAE"/>
                </a:solidFill>
                <a:latin typeface="Calibri"/>
                <a:ea typeface="Calibri"/>
                <a:cs typeface="Calibri"/>
              </a:defRPr>
            </a:pPr>
            <a:r>
              <a:rPr sz="1575" b="1">
                <a:solidFill>
                  <a:srgbClr val="1F5FAE"/>
                </a:solidFill>
                <a:latin typeface="Calibri"/>
                <a:ea typeface="Calibri"/>
                <a:cs typeface="Calibri"/>
              </a:rPr>
              <a:t>Limitations</a:t>
            </a:r>
          </a:p>
        </p:txBody>
      </p:sp>
      <p:sp>
        <p:nvSpPr>
          <p:cNvPr id="8" name="">
            <a:extLst xmlns:a="http://schemas.openxmlformats.org/drawingml/2006/main">
              <a:ext uri="{FF2B5EF4-FFF2-40B4-BE49-F238E27FC236}">
                <a16:creationId xmlns:a16="http://schemas.microsoft.com/office/drawing/2014/main" id="{55FD6A75-A8A0-4988-B5B0-85EDE08D84BE}"/>
              </a:ext>
            </a:extLst>
          </p:cNvPr>
          <p:cNvSpPr>
            <a:spLocks xmlns:a="http://schemas.openxmlformats.org/drawingml/2006/main" noGrp="1"/>
          </p:cNvSpPr>
          <p:nvPr/>
        </p:nvSpPr>
        <p:spPr>
          <a:xfrm xmlns:a="http://schemas.openxmlformats.org/drawingml/2006/main">
            <a:off x="3343275" y="1438275"/>
            <a:ext cx="25717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t">
            <a:noAutofit/>
          </a:bodyPr>
          <a:lstStyle xmlns:a="http://schemas.openxmlformats.org/drawingml/2006/main"/>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Application-level inputs only</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Limited positive-case recall</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Sparse high-probability bins</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Validation reuse</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Approximate local explanations</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Limited subgroup diagnostics</a:t>
            </a:r>
          </a:p>
        </p:txBody>
      </p:sp>
      <p:sp>
        <p:nvSpPr>
          <p:cNvPr id="9" name="">
            <a:extLst xmlns:a="http://schemas.openxmlformats.org/drawingml/2006/main">
              <a:ext uri="{FF2B5EF4-FFF2-40B4-BE49-F238E27FC236}">
                <a16:creationId xmlns:a16="http://schemas.microsoft.com/office/drawing/2014/main" id="{E35D726E-FD65-412C-8E72-342A8228A665}"/>
              </a:ext>
            </a:extLst>
          </p:cNvPr>
          <p:cNvSpPr>
            <a:spLocks xmlns:a="http://schemas.openxmlformats.org/drawingml/2006/main" noGrp="1"/>
          </p:cNvSpPr>
          <p:nvPr/>
        </p:nvSpPr>
        <p:spPr>
          <a:xfrm xmlns:a="http://schemas.openxmlformats.org/drawingml/2006/main">
            <a:off x="6210300" y="1038225"/>
            <a:ext cx="2371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ctr">
            <a:noAutofit/>
          </a:bodyPr>
          <a:lstStyle xmlns:a="http://schemas.openxmlformats.org/drawingml/2006/main"/>
          <a:p xmlns:a="http://schemas.openxmlformats.org/drawingml/2006/main">
            <a:pPr algn="l">
              <a:defRPr sz="1575" b="1">
                <a:solidFill>
                  <a:srgbClr val="1F5FAE"/>
                </a:solidFill>
                <a:latin typeface="Calibri"/>
                <a:ea typeface="Calibri"/>
                <a:cs typeface="Calibri"/>
              </a:defRPr>
            </a:pPr>
            <a:r>
              <a:rPr sz="1575" b="1">
                <a:solidFill>
                  <a:srgbClr val="1F5FAE"/>
                </a:solidFill>
                <a:latin typeface="Calibri"/>
                <a:ea typeface="Calibri"/>
                <a:cs typeface="Calibri"/>
              </a:rPr>
              <a:t>Future work</a:t>
            </a:r>
          </a:p>
        </p:txBody>
      </p:sp>
      <p:sp>
        <p:nvSpPr>
          <p:cNvPr id="10" name="">
            <a:extLst xmlns:a="http://schemas.openxmlformats.org/drawingml/2006/main">
              <a:ext uri="{FF2B5EF4-FFF2-40B4-BE49-F238E27FC236}">
                <a16:creationId xmlns:a16="http://schemas.microsoft.com/office/drawing/2014/main" id="{F6C3FF87-B630-4374-B2CA-0902612CC2E2}"/>
              </a:ext>
            </a:extLst>
          </p:cNvPr>
          <p:cNvSpPr>
            <a:spLocks xmlns:a="http://schemas.openxmlformats.org/drawingml/2006/main" noGrp="1"/>
          </p:cNvSpPr>
          <p:nvPr/>
        </p:nvSpPr>
        <p:spPr>
          <a:xfrm xmlns:a="http://schemas.openxmlformats.org/drawingml/2006/main">
            <a:off x="6210300" y="1438275"/>
            <a:ext cx="23717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28575" rIns="0" bIns="28575" anchor="t">
            <a:noAutofit/>
          </a:bodyPr>
          <a:lstStyle xmlns:a="http://schemas.openxmlformats.org/drawingml/2006/main"/>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Multi-table features</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Independent calibration and</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threshold validation</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Monitoring and drift checks</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Authentication</a:t>
            </a:r>
          </a:p>
          <a:p xmlns:a="http://schemas.openxmlformats.org/drawingml/2006/main">
            <a:pPr algn="l">
              <a:defRPr sz="1350" b="0">
                <a:solidFill>
                  <a:srgbClr val="0B2E59"/>
                </a:solidFill>
                <a:latin typeface="Calibri"/>
                <a:ea typeface="Calibri"/>
                <a:cs typeface="Calibri"/>
              </a:defRPr>
            </a:pPr>
            <a:r>
              <a:rPr sz="1350" b="0">
                <a:solidFill>
                  <a:srgbClr val="0B2E59"/>
                </a:solidFill>
                <a:latin typeface="Calibri"/>
                <a:ea typeface="Calibri"/>
                <a:cs typeface="Calibri"/>
              </a:rPr>
              <a:t>Prediction persistence</a:t>
            </a:r>
          </a:p>
        </p:txBody>
      </p:sp>
      <p:sp>
        <p:nvSpPr>
          <p:cNvPr id="11" name="">
            <a:extLst xmlns:a="http://schemas.openxmlformats.org/drawingml/2006/main">
              <a:ext uri="{FF2B5EF4-FFF2-40B4-BE49-F238E27FC236}">
                <a16:creationId xmlns:a16="http://schemas.microsoft.com/office/drawing/2014/main" id="{7EE654C7-2AFE-415E-82F2-EE4BB7DCF93E}"/>
              </a:ext>
            </a:extLst>
          </p:cNvPr>
          <p:cNvSpPr>
            <a:spLocks xmlns:a="http://schemas.openxmlformats.org/drawingml/2006/main" noGrp="1"/>
          </p:cNvSpPr>
          <p:nvPr/>
        </p:nvSpPr>
        <p:spPr>
          <a:xfrm xmlns:a="http://schemas.openxmlformats.org/drawingml/2006/main">
            <a:off x="552450" y="3876675"/>
            <a:ext cx="8039100" cy="561975"/>
          </a:xfrm>
          <a:prstGeom xmlns:a="http://schemas.openxmlformats.org/drawingml/2006/main" prst="roundRect">
            <a:avLst>
              <a:gd name="adj" fmla="val 13559"/>
            </a:avLst>
          </a:prstGeom>
          <a:solidFill xmlns:a="http://schemas.openxmlformats.org/drawingml/2006/main">
            <a:srgbClr val="0B2E59"/>
          </a:solidFill>
          <a:ln xmlns:a="http://schemas.openxmlformats.org/drawingml/2006/main" w="0">
            <a:noFill/>
          </a:ln>
        </p:spPr>
        <p:txBody>
          <a:bodyPr xmlns:a="http://schemas.openxmlformats.org/drawingml/2006/main" lIns="95250" tIns="28575" rIns="95250" bIns="28575" anchor="ctr">
            <a:noAutofit/>
          </a:bodyPr>
          <a:lstStyle xmlns:a="http://schemas.openxmlformats.org/drawingml/2006/main"/>
          <a:p xmlns:a="http://schemas.openxmlformats.org/drawingml/2006/main">
            <a:pPr algn="ctr">
              <a:defRPr sz="1575" b="1">
                <a:solidFill>
                  <a:srgbClr val="FFFFFF"/>
                </a:solidFill>
                <a:latin typeface="Calibri"/>
                <a:ea typeface="Calibri"/>
                <a:cs typeface="Calibri"/>
              </a:defRPr>
            </a:pPr>
            <a:r>
              <a:rPr sz="1575" b="1">
                <a:solidFill>
                  <a:srgbClr val="FFFFFF"/>
                </a:solidFill>
                <a:latin typeface="Calibri"/>
                <a:ea typeface="Calibri"/>
                <a:cs typeface="Calibri"/>
              </a:rPr>
              <a:t>An analytical system for human review, with explicit evidence and limitations</a:t>
            </a:r>
          </a:p>
        </p:txBody>
      </p:sp>
    </p:spTree>
    <p:extLst>
      <p:ext uri="{BB962C8B-B14F-4D97-AF65-F5344CB8AC3E}">
        <p14:creationId xmlns:p14="http://schemas.microsoft.com/office/powerpoint/2010/main" val="190580828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2026-10-05T15:25:21.3820000Z</dcterms:created>
  <dcterms:modified xsi:type="dcterms:W3CDTF">2026-10-05T15:25:21.3820000Z</dcterms:modified>
</coreProperties>
</file>